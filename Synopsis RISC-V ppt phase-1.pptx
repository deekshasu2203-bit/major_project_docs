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21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82" r:id="rId4"/>
    <p:sldId id="285" r:id="rId5"/>
    <p:sldId id="283" r:id="rId6"/>
    <p:sldId id="292" r:id="rId7"/>
    <p:sldId id="287" r:id="rId8"/>
    <p:sldId id="288" r:id="rId9"/>
    <p:sldId id="290" r:id="rId10"/>
    <p:sldId id="293" r:id="rId11"/>
    <p:sldId id="291" r:id="rId12"/>
    <p:sldId id="265" r:id="rId13"/>
    <p:sldId id="266" r:id="rId14"/>
    <p:sldId id="279" r:id="rId15"/>
    <p:sldId id="278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2oiVpas2YBkO0UByyxNlT3ADt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126861" y="8412"/>
            <a:ext cx="2729552" cy="116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9FAE8-5F59-4A6F-A3F8-3BB2763154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245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369171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743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385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553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118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0B4E4F35-2CD1-BF81-9B33-6C55216C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>
            <a:extLst>
              <a:ext uri="{FF2B5EF4-FFF2-40B4-BE49-F238E27FC236}">
                <a16:creationId xmlns:a16="http://schemas.microsoft.com/office/drawing/2014/main" id="{109F8292-0DB1-927A-0883-C4D2CDC8E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6945A00F-A8CE-AF23-4AB0-79AB9FB6C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2517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2273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115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90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D897-DFE7-44A6-88B7-A63010E51BC0}" type="datetime5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6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6060-F5EB-4C51-AFBD-44A0E7355E3B}" type="datetime5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18" y="134875"/>
            <a:ext cx="11525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LVAS NEW LOGO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475" y="110001"/>
            <a:ext cx="1333500" cy="1190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49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76B5-286F-47D2-AD19-856625DCB7CB}" type="datetime5">
              <a:rPr lang="en-US" smtClean="0"/>
              <a:t>12-Mar-26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2DC5-345C-46FD-9D74-378DDC889D1B}" type="datetime5">
              <a:rPr lang="en-US" smtClean="0"/>
              <a:t>12-Mar-26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7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F61B-2608-4622-8D21-FD18A46E21BF}" type="datetime5">
              <a:rPr lang="en-US" smtClean="0"/>
              <a:t>12-Mar-26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7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B5CF-89DE-4AE4-8519-A9EC2D7C9575}" type="datetime5">
              <a:rPr lang="en-US" smtClean="0"/>
              <a:t>12-Mar-26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9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3A492-C38A-4236-B547-F38F9A2F4F7E}" type="datetime5">
              <a:rPr lang="en-US" smtClean="0"/>
              <a:t>12-Mar-26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3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5C72-58F3-46E5-A6C8-9319717E23D4}" type="datetime5">
              <a:rPr lang="en-US" smtClean="0"/>
              <a:t>12-Mar-26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7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0E68-DC05-4BBD-846D-BF19483FF0F3}" type="datetime5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7D1F-E8D6-43B4-8EE5-B029E2967E5E}" type="datetime5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4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5380A-D7C3-4BFA-B4C6-AF530FDD80D3}" type="datetime5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Low-Power Resource-Efficient RISC-V Processor for Biomedical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pic>
        <p:nvPicPr>
          <p:cNvPr id="7" name="Picture 6" descr="ALVAS NEW LOGO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77" y="345958"/>
            <a:ext cx="13335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890" y="426921"/>
            <a:ext cx="1152525" cy="102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261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ctrTitle"/>
          </p:nvPr>
        </p:nvSpPr>
        <p:spPr>
          <a:xfrm>
            <a:off x="1515121" y="1967636"/>
            <a:ext cx="9439924" cy="19740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BBE1E5"/>
              </a:buClr>
              <a:buSzPct val="100000"/>
            </a:pP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SYNOPSIS  PRESENTATION  </a:t>
            </a: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Biomedical Applications</a:t>
            </a:r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9" name="Google Shape;149;p1"/>
          <p:cNvSpPr txBox="1">
            <a:spLocks noGrp="1"/>
          </p:cNvSpPr>
          <p:nvPr>
            <p:ph type="subTitle" idx="1"/>
          </p:nvPr>
        </p:nvSpPr>
        <p:spPr>
          <a:xfrm>
            <a:off x="8515597" y="3430251"/>
            <a:ext cx="3105274" cy="181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0"/>
              </a:spcBef>
              <a:buSzPts val="2000"/>
            </a:pPr>
            <a:r>
              <a:rPr lang="en-US" sz="1900" dirty="0">
                <a:solidFill>
                  <a:srgbClr val="A2CDE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1900" dirty="0">
              <a:solidFill>
                <a:schemeClr val="accent5"/>
              </a:solidFill>
            </a:endParaRPr>
          </a:p>
          <a:p>
            <a:pPr algn="l"/>
            <a:r>
              <a:rPr lang="pt-BR" sz="19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 </a:t>
            </a:r>
            <a:r>
              <a:rPr lang="pt-BR" sz="19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NAPOLEAN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buSzPts val="2000"/>
            </a:pPr>
            <a:r>
              <a:rPr lang="pt-BR" sz="1900" dirty="0">
                <a:solidFill>
                  <a:srgbClr val="A2CDE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pt-BR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ASSOCIATE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</a:t>
            </a:r>
            <a:r>
              <a:rPr lang="pt-BR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</a:t>
            </a:r>
          </a:p>
          <a:p>
            <a:pPr lvl="0" algn="l">
              <a:buSzPts val="2000"/>
            </a:pPr>
            <a:r>
              <a:rPr lang="pt-BR" sz="19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ECE DEPT, AIET.</a:t>
            </a:r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 dirty="0">
              <a:solidFill>
                <a:srgbClr val="A2CDE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 dirty="0">
              <a:solidFill>
                <a:srgbClr val="A2CDE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20057A-1BC6-48F5-831C-5AB970D80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420855"/>
              </p:ext>
            </p:extLst>
          </p:nvPr>
        </p:nvGraphicFramePr>
        <p:xfrm>
          <a:off x="1220124" y="3770982"/>
          <a:ext cx="7606394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3197">
                  <a:extLst>
                    <a:ext uri="{9D8B030D-6E8A-4147-A177-3AD203B41FA5}">
                      <a16:colId xmlns:a16="http://schemas.microsoft.com/office/drawing/2014/main" val="3875651842"/>
                    </a:ext>
                  </a:extLst>
                </a:gridCol>
                <a:gridCol w="3803197">
                  <a:extLst>
                    <a:ext uri="{9D8B030D-6E8A-4147-A177-3AD203B41FA5}">
                      <a16:colId xmlns:a16="http://schemas.microsoft.com/office/drawing/2014/main" val="2232516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AMOGH KAMATH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4AL23EC006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948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ARJUN P SHETTY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4AL23EC012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9189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DARSHAN KUMAR R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4AL23EC020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4104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DEEKSHA SU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4AL23EC022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9571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3B090-97F8-4027-B1F7-E69633BE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6045" y="6492875"/>
            <a:ext cx="1321526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sp>
        <p:nvSpPr>
          <p:cNvPr id="3" name="Google Shape;247;p13">
            <a:extLst>
              <a:ext uri="{FF2B5EF4-FFF2-40B4-BE49-F238E27FC236}">
                <a16:creationId xmlns:a16="http://schemas.microsoft.com/office/drawing/2014/main" id="{D20542C1-037D-5DB8-489D-F50E0FD8E597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379FB8F3-8EAE-FE56-24A4-86AE0579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>
            <a:spLocks noGrp="1"/>
          </p:cNvSpPr>
          <p:nvPr>
            <p:ph type="title"/>
          </p:nvPr>
        </p:nvSpPr>
        <p:spPr>
          <a:xfrm>
            <a:off x="506888" y="275754"/>
            <a:ext cx="10515600" cy="10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b="1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"/>
          <p:cNvSpPr txBox="1">
            <a:spLocks noGrp="1"/>
          </p:cNvSpPr>
          <p:nvPr>
            <p:ph idx="1"/>
          </p:nvPr>
        </p:nvSpPr>
        <p:spPr>
          <a:xfrm>
            <a:off x="506888" y="1004888"/>
            <a:ext cx="10905226" cy="548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biomedical devices such as wearable monitors and implantable sensors require efficient processors to continuously process physiological signals like ECG and EEG.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biomedical devices often run on small batteries, processors must be designed to consume minimal power while maintaining reliable performance.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is an open-source and customizable processor architecture that enables the development of flexible and energy-efficient embedded systems.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focuses on designing a low-power, resource-efficient RISC-V processor optimized for biomedical application in portable healthcare devices.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F4D7C-3F2B-4E27-95DE-CE56677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6560" y="6492558"/>
            <a:ext cx="1251856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  <p:sp>
        <p:nvSpPr>
          <p:cNvPr id="4" name="Google Shape;247;p13">
            <a:extLst>
              <a:ext uri="{FF2B5EF4-FFF2-40B4-BE49-F238E27FC236}">
                <a16:creationId xmlns:a16="http://schemas.microsoft.com/office/drawing/2014/main" id="{A89E82B5-0E4F-2BC8-6455-952371D9E70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D451B74-4231-191B-FA96-8C787638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837" y="475090"/>
            <a:ext cx="10610670" cy="571126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/>
              <a:t>                            </a:t>
            </a:r>
            <a:r>
              <a:rPr lang="en-US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processors like  arm cortex m series often consume higher power [ranges from 10mW to 500mW ] and require larger hardware resources, making them inefficient for compact biomedical systems.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customizable[user friendly, flexible] and energy-efficient processor architecture that can handle biomedical signal processing with minimal power consumption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Low-Power Resource-Efficient RISC-V Processor for Biomedical Applications [approximately power consumption is from 10mW to 50mW]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639E68-8972-4BF0-9B72-C2963661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6624" y="6492875"/>
            <a:ext cx="955766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dirty="0"/>
          </a:p>
        </p:txBody>
      </p:sp>
      <p:sp>
        <p:nvSpPr>
          <p:cNvPr id="6" name="Google Shape;247;p13">
            <a:extLst>
              <a:ext uri="{FF2B5EF4-FFF2-40B4-BE49-F238E27FC236}">
                <a16:creationId xmlns:a16="http://schemas.microsoft.com/office/drawing/2014/main" id="{FE166F61-FF0F-2780-7248-7FDC6D0E1E3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DD2361C7-254A-3674-3E16-70CAD986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417668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206183" y="401055"/>
            <a:ext cx="11030400" cy="115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sz="3200" b="1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04A09-E3FF-400D-9615-E42F7F5A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612" y="6509385"/>
            <a:ext cx="1508861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  <p:sp>
        <p:nvSpPr>
          <p:cNvPr id="4" name="Google Shape;247;p13">
            <a:extLst>
              <a:ext uri="{FF2B5EF4-FFF2-40B4-BE49-F238E27FC236}">
                <a16:creationId xmlns:a16="http://schemas.microsoft.com/office/drawing/2014/main" id="{3653D528-759E-89C1-579F-469F4A7377D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D2709E8-91F4-E547-030C-C4679643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E04082B-6A1F-044D-6416-7ACC3577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82" y="1742099"/>
            <a:ext cx="106172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32-bit low-power RISC-V processor for biomedical and IoT applications.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using Cadence, and verify through simulation.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power, speed, and hardware utilization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ptimize the architecture to reduce power consumption and improve efficiency.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59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0238" y="2788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</a:t>
            </a:r>
            <a:r>
              <a:rPr lang="en-US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 lang="en-IN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02239" y="6492875"/>
            <a:ext cx="133894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49485D-46E5-2333-1B31-CA917C113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73" y="1331989"/>
            <a:ext cx="9759820" cy="5139749"/>
          </a:xfrm>
          <a:prstGeom prst="rect">
            <a:avLst/>
          </a:prstGeom>
        </p:spPr>
      </p:pic>
      <p:sp>
        <p:nvSpPr>
          <p:cNvPr id="9" name="Google Shape;247;p13">
            <a:extLst>
              <a:ext uri="{FF2B5EF4-FFF2-40B4-BE49-F238E27FC236}">
                <a16:creationId xmlns:a16="http://schemas.microsoft.com/office/drawing/2014/main" id="{F507EED6-341F-67C1-6714-AD962F0F2137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427D5DA6-6CB2-4702-C03F-08997E9D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407843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3683-B593-4B10-BB3C-64402AB1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7405-F1A9-07A5-6D46-0B76E360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238" y="2788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</a:t>
            </a:r>
            <a:r>
              <a:rPr lang="en-US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 lang="en-IN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67B8-6A1F-018C-292A-243B5CAF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2239" y="6492875"/>
            <a:ext cx="133894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087A84-39B2-8699-423C-3C3FF60C14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0984" y="1968759"/>
            <a:ext cx="12084854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devices use traditional microcontrollers or proprietary processor architectures.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power consumption reduces battery life of wearable and implantable devices.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architectures limit customization for biomedical applications.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efficiency and flexibility in biomedical device design.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247;p13">
            <a:extLst>
              <a:ext uri="{FF2B5EF4-FFF2-40B4-BE49-F238E27FC236}">
                <a16:creationId xmlns:a16="http://schemas.microsoft.com/office/drawing/2014/main" id="{5135639D-2D4F-C3AC-28BE-14CEF12CF0B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C76D6A99-7F7D-AD08-7211-EA334E8A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105487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>
            <a:spLocks noGrp="1"/>
          </p:cNvSpPr>
          <p:nvPr>
            <p:ph type="title"/>
          </p:nvPr>
        </p:nvSpPr>
        <p:spPr>
          <a:xfrm>
            <a:off x="640831" y="324788"/>
            <a:ext cx="101313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AD2D8"/>
              </a:buClr>
              <a:buSzPts val="4800"/>
              <a:buFont typeface="Times New Roman"/>
              <a:buNone/>
            </a:pPr>
            <a:r>
              <a:rPr lang="en-US" sz="3000" b="1" dirty="0">
                <a:solidFill>
                  <a:srgbClr val="9AD2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</a:t>
            </a:r>
            <a:r>
              <a:rPr lang="en-US" sz="30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</a:t>
            </a:r>
            <a:endParaRPr sz="3000" b="1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F403E-CC0C-4741-A3C8-B04EFDC2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9291" y="6480299"/>
            <a:ext cx="981891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5" name="Google Shape;247;p13">
            <a:extLst>
              <a:ext uri="{FF2B5EF4-FFF2-40B4-BE49-F238E27FC236}">
                <a16:creationId xmlns:a16="http://schemas.microsoft.com/office/drawing/2014/main" id="{FD08EE18-3EAF-EC37-BC4E-4B5586C1A60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10D1D800-59F2-558A-7DFF-94B4450A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B59780-08B2-E968-82EC-9278047C0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11865"/>
              </p:ext>
            </p:extLst>
          </p:nvPr>
        </p:nvGraphicFramePr>
        <p:xfrm>
          <a:off x="523607" y="1825625"/>
          <a:ext cx="10936875" cy="4211048"/>
        </p:xfrm>
        <a:graphic>
          <a:graphicData uri="http://schemas.openxmlformats.org/drawingml/2006/table">
            <a:tbl>
              <a:tblPr/>
              <a:tblGrid>
                <a:gridCol w="1454483">
                  <a:extLst>
                    <a:ext uri="{9D8B030D-6E8A-4147-A177-3AD203B41FA5}">
                      <a16:colId xmlns:a16="http://schemas.microsoft.com/office/drawing/2014/main" val="3855257047"/>
                    </a:ext>
                  </a:extLst>
                </a:gridCol>
                <a:gridCol w="2920267">
                  <a:extLst>
                    <a:ext uri="{9D8B030D-6E8A-4147-A177-3AD203B41FA5}">
                      <a16:colId xmlns:a16="http://schemas.microsoft.com/office/drawing/2014/main" val="2877735405"/>
                    </a:ext>
                  </a:extLst>
                </a:gridCol>
                <a:gridCol w="2187375">
                  <a:extLst>
                    <a:ext uri="{9D8B030D-6E8A-4147-A177-3AD203B41FA5}">
                      <a16:colId xmlns:a16="http://schemas.microsoft.com/office/drawing/2014/main" val="3293745682"/>
                    </a:ext>
                  </a:extLst>
                </a:gridCol>
                <a:gridCol w="2187375">
                  <a:extLst>
                    <a:ext uri="{9D8B030D-6E8A-4147-A177-3AD203B41FA5}">
                      <a16:colId xmlns:a16="http://schemas.microsoft.com/office/drawing/2014/main" val="1432247057"/>
                    </a:ext>
                  </a:extLst>
                </a:gridCol>
                <a:gridCol w="2187375">
                  <a:extLst>
                    <a:ext uri="{9D8B030D-6E8A-4147-A177-3AD203B41FA5}">
                      <a16:colId xmlns:a16="http://schemas.microsoft.com/office/drawing/2014/main" val="3203657391"/>
                    </a:ext>
                  </a:extLst>
                </a:gridCol>
              </a:tblGrid>
              <a:tr h="2486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Ref. No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/>
                        <a:t>Paper (Short Name)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/>
                        <a:t>Power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/>
                        <a:t>Area / Resources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Efficiency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05757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[1]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Bio-RV: Low-Power Resource-Efficient RISC-V Processor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/>
                        <a:t>15 mW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697,039 µm² (ASIC), 708 LUTs, 235 FFs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/>
                        <a:t>17.18 </a:t>
                      </a:r>
                      <a:r>
                        <a:rPr lang="en-IN" sz="2000" b="0" dirty="0" err="1"/>
                        <a:t>pJ</a:t>
                      </a:r>
                      <a:r>
                        <a:rPr lang="en-IN" sz="2000" b="0" dirty="0"/>
                        <a:t>/cycle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798471"/>
                  </a:ext>
                </a:extLst>
              </a:tr>
              <a:tr h="994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[2]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/>
                        <a:t>FPGA Based 32-bit RISC-V Processor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/>
                        <a:t>N/A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Compact FPGA implementation with cache (4 KB I-cache, 1 KB D-cache)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/>
                        <a:t>1.35 CoreMark/MHz, 0.505 DMIPS/MHz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5869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[3]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Low-Power IoT RISC-V Processor with Hybrid Encryption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N/A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N/A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Improved energy efficiency for secure IoT processing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208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920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71625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                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– “Cont’d”</a:t>
            </a:r>
            <a:br>
              <a:rPr lang="en-GB" sz="3200" dirty="0">
                <a:solidFill>
                  <a:schemeClr val="accent5"/>
                </a:solidFill>
              </a:rPr>
            </a:br>
            <a:endParaRPr lang="en-US" sz="3200" b="1" dirty="0">
              <a:solidFill>
                <a:schemeClr val="accent5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BFC468-A9E1-451A-A98B-985CF2E3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783" y="6492875"/>
            <a:ext cx="12954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3" name="Google Shape;247;p13">
            <a:extLst>
              <a:ext uri="{FF2B5EF4-FFF2-40B4-BE49-F238E27FC236}">
                <a16:creationId xmlns:a16="http://schemas.microsoft.com/office/drawing/2014/main" id="{0DFB5AF1-93B8-FA27-75F8-00E1385D857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645ABFD3-6B4F-7A4F-AB62-0FBBE40E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98B05F-2D07-1347-3F68-886617CBD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462153"/>
              </p:ext>
            </p:extLst>
          </p:nvPr>
        </p:nvGraphicFramePr>
        <p:xfrm>
          <a:off x="838200" y="1825624"/>
          <a:ext cx="10936875" cy="3950334"/>
        </p:xfrm>
        <a:graphic>
          <a:graphicData uri="http://schemas.openxmlformats.org/drawingml/2006/table">
            <a:tbl>
              <a:tblPr/>
              <a:tblGrid>
                <a:gridCol w="1606420">
                  <a:extLst>
                    <a:ext uri="{9D8B030D-6E8A-4147-A177-3AD203B41FA5}">
                      <a16:colId xmlns:a16="http://schemas.microsoft.com/office/drawing/2014/main" val="4160095285"/>
                    </a:ext>
                  </a:extLst>
                </a:gridCol>
                <a:gridCol w="2768330">
                  <a:extLst>
                    <a:ext uri="{9D8B030D-6E8A-4147-A177-3AD203B41FA5}">
                      <a16:colId xmlns:a16="http://schemas.microsoft.com/office/drawing/2014/main" val="4211928732"/>
                    </a:ext>
                  </a:extLst>
                </a:gridCol>
                <a:gridCol w="2187375">
                  <a:extLst>
                    <a:ext uri="{9D8B030D-6E8A-4147-A177-3AD203B41FA5}">
                      <a16:colId xmlns:a16="http://schemas.microsoft.com/office/drawing/2014/main" val="1996446312"/>
                    </a:ext>
                  </a:extLst>
                </a:gridCol>
                <a:gridCol w="2187375">
                  <a:extLst>
                    <a:ext uri="{9D8B030D-6E8A-4147-A177-3AD203B41FA5}">
                      <a16:colId xmlns:a16="http://schemas.microsoft.com/office/drawing/2014/main" val="227060635"/>
                    </a:ext>
                  </a:extLst>
                </a:gridCol>
                <a:gridCol w="2187375">
                  <a:extLst>
                    <a:ext uri="{9D8B030D-6E8A-4147-A177-3AD203B41FA5}">
                      <a16:colId xmlns:a16="http://schemas.microsoft.com/office/drawing/2014/main" val="983129631"/>
                    </a:ext>
                  </a:extLst>
                </a:gridCol>
              </a:tblGrid>
              <a:tr h="1316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[4]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RTL to GDSII RISC-V Processor Implementation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N/A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Full ASIC flow (RTL → GDSII)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N/A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959"/>
                  </a:ext>
                </a:extLst>
              </a:tr>
              <a:tr h="1316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[5]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Low-Power RISC-V Core for Edge Devices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N/A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Energy-constrained lightweight core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High energy efficiency for edge systems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150301"/>
                  </a:ext>
                </a:extLst>
              </a:tr>
              <a:tr h="1316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[6]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Multicore RISC-V with Shared Lightweight FPU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Reduced power architecture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Multicore design with shared FPU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Improved area &amp; energy efficiency for IoT nodes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27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6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86D9-88DC-FDAE-8E44-A3253DD1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984B-94D2-93AE-72CE-A392A93F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52" y="269873"/>
            <a:ext cx="78232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32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</a:t>
            </a: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  <a:endParaRPr lang="en-IN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06D5-6BF3-170F-DBF6-7D11981A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6709" y="6492875"/>
            <a:ext cx="96447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D0A4E36-72DC-25A2-D62D-99FB0C592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606" y="2132247"/>
            <a:ext cx="11355238" cy="305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low-power and resource-efficient processor for biomedical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RISC-V architecture for flexibility and customization.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processor to reduce power consumption and hardware area.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efficient processing of biomedical signals in wearable healthcare devices.</a:t>
            </a:r>
          </a:p>
        </p:txBody>
      </p:sp>
      <p:sp>
        <p:nvSpPr>
          <p:cNvPr id="3" name="Google Shape;247;p13">
            <a:extLst>
              <a:ext uri="{FF2B5EF4-FFF2-40B4-BE49-F238E27FC236}">
                <a16:creationId xmlns:a16="http://schemas.microsoft.com/office/drawing/2014/main" id="{06F353A9-6931-6301-F548-19CF409DF21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080F39BF-DE96-4011-0493-6DEDA213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212658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4DBA-1673-E8D6-6B29-47BA71E2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F6F4-5FE1-5D2C-D270-B0AD37CF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325" y="320673"/>
            <a:ext cx="8181675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CHART</a:t>
            </a:r>
            <a:endParaRPr lang="en-IN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92DC4-DD1D-180F-C228-861480F4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6709" y="6492875"/>
            <a:ext cx="96447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dirty="0"/>
          </a:p>
        </p:txBody>
      </p:sp>
      <p:sp>
        <p:nvSpPr>
          <p:cNvPr id="3" name="Google Shape;247;p13">
            <a:extLst>
              <a:ext uri="{FF2B5EF4-FFF2-40B4-BE49-F238E27FC236}">
                <a16:creationId xmlns:a16="http://schemas.microsoft.com/office/drawing/2014/main" id="{552A177B-3156-F49A-04E3-A0CBF448B68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C76467BB-63DE-A3DA-DCCE-3DFA5F4A73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BE9E1-9E4C-3539-C39C-3F3B5607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660" y="1391921"/>
            <a:ext cx="8638540" cy="508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9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D76542B9-A915-BCC8-D5FA-80A1AC45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>
            <a:extLst>
              <a:ext uri="{FF2B5EF4-FFF2-40B4-BE49-F238E27FC236}">
                <a16:creationId xmlns:a16="http://schemas.microsoft.com/office/drawing/2014/main" id="{0C4B8B37-F7E9-DD21-B6B5-CBB42B068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1" y="435438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AD2D8"/>
              </a:buClr>
              <a:buSzPts val="4800"/>
              <a:buFont typeface="Times New Roman"/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RESULTS</a:t>
            </a:r>
            <a:endParaRPr sz="3200" dirty="0">
              <a:solidFill>
                <a:schemeClr val="accent5"/>
              </a:solidFill>
            </a:endParaRPr>
          </a:p>
        </p:txBody>
      </p:sp>
      <p:sp>
        <p:nvSpPr>
          <p:cNvPr id="213" name="Google Shape;213;p9">
            <a:extLst>
              <a:ext uri="{FF2B5EF4-FFF2-40B4-BE49-F238E27FC236}">
                <a16:creationId xmlns:a16="http://schemas.microsoft.com/office/drawing/2014/main" id="{757F8EA2-AB1B-8AA0-74EF-08F54FDDC9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99405"/>
            <a:ext cx="12230820" cy="391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power consumption in biomedical signal processing systems.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hardware utilization with a compact processor design.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using the RISC-V architecture.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suitability for wearable and portable biomedical devices.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Google Shape;217;p9">
            <a:extLst>
              <a:ext uri="{FF2B5EF4-FFF2-40B4-BE49-F238E27FC236}">
                <a16:creationId xmlns:a16="http://schemas.microsoft.com/office/drawing/2014/main" id="{1E3FD656-9823-772A-B5C6-F5147637D0F7}"/>
              </a:ext>
            </a:extLst>
          </p:cNvPr>
          <p:cNvSpPr txBox="1"/>
          <p:nvPr/>
        </p:nvSpPr>
        <p:spPr>
          <a:xfrm>
            <a:off x="5438328" y="6441149"/>
            <a:ext cx="147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 project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CCFA4-800D-7569-9DCE-F0152DF0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8323" y="6512053"/>
            <a:ext cx="536699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4" name="Google Shape;247;p13">
            <a:extLst>
              <a:ext uri="{FF2B5EF4-FFF2-40B4-BE49-F238E27FC236}">
                <a16:creationId xmlns:a16="http://schemas.microsoft.com/office/drawing/2014/main" id="{EE4E2C34-B8DE-759C-2C76-40AF54CEED7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2425D74-AAA8-2D92-3E82-FCB79945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2445533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>
            <a:spLocks noGrp="1"/>
          </p:cNvSpPr>
          <p:nvPr>
            <p:ph type="title"/>
          </p:nvPr>
        </p:nvSpPr>
        <p:spPr>
          <a:xfrm>
            <a:off x="561975" y="29333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AD2D8"/>
              </a:buClr>
              <a:buSzPts val="4800"/>
              <a:buFont typeface="Times New Roman"/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3200" b="1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0"/>
          <p:cNvSpPr txBox="1">
            <a:spLocks noGrp="1"/>
          </p:cNvSpPr>
          <p:nvPr>
            <p:ph idx="1"/>
          </p:nvPr>
        </p:nvSpPr>
        <p:spPr>
          <a:xfrm>
            <a:off x="958971" y="823182"/>
            <a:ext cx="10515599" cy="479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 suitable for biomedical devices.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hardware resources with compact design.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flexibility using RISC-V architecture.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battery life for wearable and portable healthcare systems.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F338A-AD9F-446D-A074-0013BC7A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5085" y="6492875"/>
            <a:ext cx="88609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dirty="0"/>
          </a:p>
        </p:txBody>
      </p:sp>
      <p:sp>
        <p:nvSpPr>
          <p:cNvPr id="4" name="Google Shape;247;p13">
            <a:extLst>
              <a:ext uri="{FF2B5EF4-FFF2-40B4-BE49-F238E27FC236}">
                <a16:creationId xmlns:a16="http://schemas.microsoft.com/office/drawing/2014/main" id="{CDA59AD5-4247-7A48-E9B9-6C6DC76C6D8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AF10258-C3E0-5CC4-D168-ACB84E77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>
            <a:spLocks noGrp="1"/>
          </p:cNvSpPr>
          <p:nvPr>
            <p:ph type="title"/>
          </p:nvPr>
        </p:nvSpPr>
        <p:spPr>
          <a:xfrm>
            <a:off x="658483" y="2012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AD2D8"/>
              </a:buClr>
              <a:buSzPts val="4800"/>
              <a:buFont typeface="Times New Roman"/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3200" dirty="0">
              <a:solidFill>
                <a:schemeClr val="accent5"/>
              </a:solidFill>
            </a:endParaRPr>
          </a:p>
        </p:txBody>
      </p:sp>
      <p:sp>
        <p:nvSpPr>
          <p:cNvPr id="231" name="Google Shape;231;p11"/>
          <p:cNvSpPr txBox="1">
            <a:spLocks noGrp="1"/>
          </p:cNvSpPr>
          <p:nvPr>
            <p:ph idx="1"/>
          </p:nvPr>
        </p:nvSpPr>
        <p:spPr>
          <a:xfrm>
            <a:off x="1017917" y="1427579"/>
            <a:ext cx="10688307" cy="4861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smart wearables that continuously monitor vital signals such as heart rate, ECG, and body temperature.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devices implanted inside the body, such as pacemakers, where low power consumption is critical.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portable medical equipment to process physiological signals like ECG or EEG efficiently.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continuous monitoring of patient health data and transmission to doctors or healthcare centers.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1861FF-2C62-44DE-90B3-D5A72834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3617" y="6492875"/>
            <a:ext cx="920931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dirty="0"/>
          </a:p>
        </p:txBody>
      </p:sp>
      <p:sp>
        <p:nvSpPr>
          <p:cNvPr id="4" name="Google Shape;247;p13">
            <a:extLst>
              <a:ext uri="{FF2B5EF4-FFF2-40B4-BE49-F238E27FC236}">
                <a16:creationId xmlns:a16="http://schemas.microsoft.com/office/drawing/2014/main" id="{4D620D65-27C1-DA53-26E5-C4CD45D5E41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B26B909-4EB3-D2C4-2472-12B3B98C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522"/>
            <a:ext cx="10515600" cy="72887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 </a:t>
            </a:r>
            <a:br>
              <a:rPr lang="en-GB" sz="3600" dirty="0">
                <a:solidFill>
                  <a:schemeClr val="accent5"/>
                </a:solidFill>
              </a:rPr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9251"/>
            <a:ext cx="10515600" cy="42781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 V. P. Sharma, A. Kumar, M. F. Khan, M.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Lokhande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Vishvakarma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“Bio-RV: Low-power resource-efficient RISC-V processor for biomedical applications,”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Biomed. Circuits Syst.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Kurali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B. Fidan, “Implementation of FPGA based 32-bit RISC-V processor,”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Microelectronics Journal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 S. Yang, L. Shao, J. Huang, and W. Zou, “Design and implementation of low-power IoT RISC-V processor with hybrid encryption accelerator,”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20, p. 4222, 2023.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 S.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Narla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Yamsani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Gurrala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Jamal, and C. U. Kumari, “RISC-V processor design: RTL to GDSII implementation using EDA tools,” in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Smart &amp; Sustainable Technology (INCSSIT)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Teyene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Taconit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“Design and implementation of a low-power RISC-V processor core for energy-constrained edge devices,”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VLSI, Embedded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Technol.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3, no. 1, pp. 7–14, 2026.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  J. Park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“Designing low-power RISC-V multicore processors with a shared lightweight floating point unit for IoT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endnodes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Circuits Syst. 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71, no. 9, pp. 4107–4120, 2024</a:t>
            </a:r>
            <a:r>
              <a:rPr lang="en-IN" sz="1800" dirty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n-IN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0251" y="6492874"/>
            <a:ext cx="920931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 dirty="0"/>
          </a:p>
        </p:txBody>
      </p:sp>
      <p:sp>
        <p:nvSpPr>
          <p:cNvPr id="7" name="Google Shape;247;p13">
            <a:extLst>
              <a:ext uri="{FF2B5EF4-FFF2-40B4-BE49-F238E27FC236}">
                <a16:creationId xmlns:a16="http://schemas.microsoft.com/office/drawing/2014/main" id="{CCC79C21-2CD2-1381-CD5D-DC385CC9E0B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6205FB96-3856-8D18-78A8-1C25EF2B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2875259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Map to the Project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758524" y="6450470"/>
            <a:ext cx="885841" cy="5111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F29EC2-1643-1229-1A4E-5CBD9BA8889F}"/>
              </a:ext>
            </a:extLst>
          </p:cNvPr>
          <p:cNvGrpSpPr/>
          <p:nvPr/>
        </p:nvGrpSpPr>
        <p:grpSpPr>
          <a:xfrm>
            <a:off x="0" y="2132852"/>
            <a:ext cx="5844209" cy="3867644"/>
            <a:chOff x="-538646" y="1827902"/>
            <a:chExt cx="6934448" cy="5161677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6C14916-803C-1B58-801B-BC02152D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513699" y="2018838"/>
              <a:ext cx="6812384" cy="4944904"/>
            </a:xfrm>
            <a:custGeom>
              <a:avLst/>
              <a:gdLst>
                <a:gd name="T0" fmla="*/ 2401 w 3234"/>
                <a:gd name="T1" fmla="*/ 2347 h 2347"/>
                <a:gd name="T2" fmla="*/ 2405 w 3234"/>
                <a:gd name="T3" fmla="*/ 2332 h 2347"/>
                <a:gd name="T4" fmla="*/ 2411 w 3234"/>
                <a:gd name="T5" fmla="*/ 2088 h 2347"/>
                <a:gd name="T6" fmla="*/ 2146 w 3234"/>
                <a:gd name="T7" fmla="*/ 1702 h 2347"/>
                <a:gd name="T8" fmla="*/ 1511 w 3234"/>
                <a:gd name="T9" fmla="*/ 1507 h 2347"/>
                <a:gd name="T10" fmla="*/ 358 w 3234"/>
                <a:gd name="T11" fmla="*/ 946 h 2347"/>
                <a:gd name="T12" fmla="*/ 946 w 3234"/>
                <a:gd name="T13" fmla="*/ 560 h 2347"/>
                <a:gd name="T14" fmla="*/ 1269 w 3234"/>
                <a:gd name="T15" fmla="*/ 413 h 2347"/>
                <a:gd name="T16" fmla="*/ 1080 w 3234"/>
                <a:gd name="T17" fmla="*/ 307 h 2347"/>
                <a:gd name="T18" fmla="*/ 645 w 3234"/>
                <a:gd name="T19" fmla="*/ 231 h 2347"/>
                <a:gd name="T20" fmla="*/ 12 w 3234"/>
                <a:gd name="T21" fmla="*/ 178 h 2347"/>
                <a:gd name="T22" fmla="*/ 0 w 3234"/>
                <a:gd name="T23" fmla="*/ 177 h 2347"/>
                <a:gd name="T24" fmla="*/ 0 w 3234"/>
                <a:gd name="T25" fmla="*/ 0 h 2347"/>
                <a:gd name="T26" fmla="*/ 12 w 3234"/>
                <a:gd name="T27" fmla="*/ 0 h 2347"/>
                <a:gd name="T28" fmla="*/ 1297 w 3234"/>
                <a:gd name="T29" fmla="*/ 114 h 2347"/>
                <a:gd name="T30" fmla="*/ 1960 w 3234"/>
                <a:gd name="T31" fmla="*/ 460 h 2347"/>
                <a:gd name="T32" fmla="*/ 1511 w 3234"/>
                <a:gd name="T33" fmla="*/ 711 h 2347"/>
                <a:gd name="T34" fmla="*/ 1048 w 3234"/>
                <a:gd name="T35" fmla="*/ 967 h 2347"/>
                <a:gd name="T36" fmla="*/ 1224 w 3234"/>
                <a:gd name="T37" fmla="*/ 1065 h 2347"/>
                <a:gd name="T38" fmla="*/ 1672 w 3234"/>
                <a:gd name="T39" fmla="*/ 1181 h 2347"/>
                <a:gd name="T40" fmla="*/ 2970 w 3234"/>
                <a:gd name="T41" fmla="*/ 1675 h 2347"/>
                <a:gd name="T42" fmla="*/ 3213 w 3234"/>
                <a:gd name="T43" fmla="*/ 2136 h 2347"/>
                <a:gd name="T44" fmla="*/ 3214 w 3234"/>
                <a:gd name="T45" fmla="*/ 2338 h 2347"/>
                <a:gd name="T46" fmla="*/ 3211 w 3234"/>
                <a:gd name="T47" fmla="*/ 2347 h 2347"/>
                <a:gd name="T48" fmla="*/ 2401 w 3234"/>
                <a:gd name="T49" fmla="*/ 2347 h 2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34" h="2347">
                  <a:moveTo>
                    <a:pt x="2401" y="2347"/>
                  </a:moveTo>
                  <a:cubicBezTo>
                    <a:pt x="2405" y="2332"/>
                    <a:pt x="2405" y="2332"/>
                    <a:pt x="2405" y="2332"/>
                  </a:cubicBezTo>
                  <a:cubicBezTo>
                    <a:pt x="2405" y="2331"/>
                    <a:pt x="2430" y="2221"/>
                    <a:pt x="2411" y="2088"/>
                  </a:cubicBezTo>
                  <a:cubicBezTo>
                    <a:pt x="2385" y="1911"/>
                    <a:pt x="2296" y="1782"/>
                    <a:pt x="2146" y="1702"/>
                  </a:cubicBezTo>
                  <a:cubicBezTo>
                    <a:pt x="2022" y="1637"/>
                    <a:pt x="1774" y="1574"/>
                    <a:pt x="1511" y="1507"/>
                  </a:cubicBezTo>
                  <a:cubicBezTo>
                    <a:pt x="971" y="1370"/>
                    <a:pt x="358" y="1215"/>
                    <a:pt x="358" y="946"/>
                  </a:cubicBezTo>
                  <a:cubicBezTo>
                    <a:pt x="358" y="704"/>
                    <a:pt x="684" y="624"/>
                    <a:pt x="946" y="560"/>
                  </a:cubicBezTo>
                  <a:cubicBezTo>
                    <a:pt x="1112" y="519"/>
                    <a:pt x="1269" y="480"/>
                    <a:pt x="1269" y="413"/>
                  </a:cubicBezTo>
                  <a:cubicBezTo>
                    <a:pt x="1269" y="392"/>
                    <a:pt x="1244" y="351"/>
                    <a:pt x="1080" y="307"/>
                  </a:cubicBezTo>
                  <a:cubicBezTo>
                    <a:pt x="975" y="279"/>
                    <a:pt x="829" y="253"/>
                    <a:pt x="645" y="231"/>
                  </a:cubicBezTo>
                  <a:cubicBezTo>
                    <a:pt x="332" y="193"/>
                    <a:pt x="15" y="178"/>
                    <a:pt x="12" y="178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457" y="0"/>
                    <a:pt x="938" y="42"/>
                    <a:pt x="1297" y="114"/>
                  </a:cubicBezTo>
                  <a:cubicBezTo>
                    <a:pt x="1599" y="174"/>
                    <a:pt x="1960" y="282"/>
                    <a:pt x="1960" y="460"/>
                  </a:cubicBezTo>
                  <a:cubicBezTo>
                    <a:pt x="1960" y="594"/>
                    <a:pt x="1742" y="651"/>
                    <a:pt x="1511" y="711"/>
                  </a:cubicBezTo>
                  <a:cubicBezTo>
                    <a:pt x="1284" y="771"/>
                    <a:pt x="1048" y="832"/>
                    <a:pt x="1048" y="967"/>
                  </a:cubicBezTo>
                  <a:cubicBezTo>
                    <a:pt x="1048" y="986"/>
                    <a:pt x="1079" y="1018"/>
                    <a:pt x="1224" y="1065"/>
                  </a:cubicBezTo>
                  <a:cubicBezTo>
                    <a:pt x="1338" y="1101"/>
                    <a:pt x="1493" y="1138"/>
                    <a:pt x="1672" y="1181"/>
                  </a:cubicBezTo>
                  <a:cubicBezTo>
                    <a:pt x="2153" y="1296"/>
                    <a:pt x="2751" y="1439"/>
                    <a:pt x="2970" y="1675"/>
                  </a:cubicBezTo>
                  <a:cubicBezTo>
                    <a:pt x="3136" y="1855"/>
                    <a:pt x="3194" y="2025"/>
                    <a:pt x="3213" y="2136"/>
                  </a:cubicBezTo>
                  <a:cubicBezTo>
                    <a:pt x="3234" y="2258"/>
                    <a:pt x="3215" y="2335"/>
                    <a:pt x="3214" y="2338"/>
                  </a:cubicBezTo>
                  <a:cubicBezTo>
                    <a:pt x="3211" y="2347"/>
                    <a:pt x="3211" y="2347"/>
                    <a:pt x="3211" y="2347"/>
                  </a:cubicBezTo>
                  <a:lnTo>
                    <a:pt x="2401" y="234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9FD1866-D331-ED45-2FF4-7550FA0D4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38646" y="1992999"/>
              <a:ext cx="6934448" cy="4996580"/>
            </a:xfrm>
            <a:custGeom>
              <a:avLst/>
              <a:gdLst>
                <a:gd name="T0" fmla="*/ 24 w 3292"/>
                <a:gd name="T1" fmla="*/ 24 h 2371"/>
                <a:gd name="T2" fmla="*/ 1959 w 3292"/>
                <a:gd name="T3" fmla="*/ 472 h 2371"/>
                <a:gd name="T4" fmla="*/ 1048 w 3292"/>
                <a:gd name="T5" fmla="*/ 979 h 2371"/>
                <a:gd name="T6" fmla="*/ 2973 w 3292"/>
                <a:gd name="T7" fmla="*/ 1695 h 2371"/>
                <a:gd name="T8" fmla="*/ 3214 w 3292"/>
                <a:gd name="T9" fmla="*/ 2347 h 2371"/>
                <a:gd name="T10" fmla="*/ 2429 w 3292"/>
                <a:gd name="T11" fmla="*/ 2347 h 2371"/>
                <a:gd name="T12" fmla="*/ 2163 w 3292"/>
                <a:gd name="T13" fmla="*/ 1704 h 2371"/>
                <a:gd name="T14" fmla="*/ 382 w 3292"/>
                <a:gd name="T15" fmla="*/ 958 h 2371"/>
                <a:gd name="T16" fmla="*/ 1293 w 3292"/>
                <a:gd name="T17" fmla="*/ 425 h 2371"/>
                <a:gd name="T18" fmla="*/ 24 w 3292"/>
                <a:gd name="T19" fmla="*/ 177 h 2371"/>
                <a:gd name="T20" fmla="*/ 24 w 3292"/>
                <a:gd name="T21" fmla="*/ 24 h 2371"/>
                <a:gd name="T22" fmla="*/ 24 w 3292"/>
                <a:gd name="T23" fmla="*/ 0 h 2371"/>
                <a:gd name="T24" fmla="*/ 0 w 3292"/>
                <a:gd name="T25" fmla="*/ 0 h 2371"/>
                <a:gd name="T26" fmla="*/ 0 w 3292"/>
                <a:gd name="T27" fmla="*/ 24 h 2371"/>
                <a:gd name="T28" fmla="*/ 0 w 3292"/>
                <a:gd name="T29" fmla="*/ 177 h 2371"/>
                <a:gd name="T30" fmla="*/ 0 w 3292"/>
                <a:gd name="T31" fmla="*/ 201 h 2371"/>
                <a:gd name="T32" fmla="*/ 23 w 3292"/>
                <a:gd name="T33" fmla="*/ 202 h 2371"/>
                <a:gd name="T34" fmla="*/ 656 w 3292"/>
                <a:gd name="T35" fmla="*/ 255 h 2371"/>
                <a:gd name="T36" fmla="*/ 1269 w 3292"/>
                <a:gd name="T37" fmla="*/ 425 h 2371"/>
                <a:gd name="T38" fmla="*/ 1185 w 3292"/>
                <a:gd name="T39" fmla="*/ 494 h 2371"/>
                <a:gd name="T40" fmla="*/ 955 w 3292"/>
                <a:gd name="T41" fmla="*/ 560 h 2371"/>
                <a:gd name="T42" fmla="*/ 563 w 3292"/>
                <a:gd name="T43" fmla="*/ 686 h 2371"/>
                <a:gd name="T44" fmla="*/ 417 w 3292"/>
                <a:gd name="T45" fmla="*/ 795 h 2371"/>
                <a:gd name="T46" fmla="*/ 358 w 3292"/>
                <a:gd name="T47" fmla="*/ 958 h 2371"/>
                <a:gd name="T48" fmla="*/ 472 w 3292"/>
                <a:gd name="T49" fmla="*/ 1153 h 2371"/>
                <a:gd name="T50" fmla="*/ 748 w 3292"/>
                <a:gd name="T51" fmla="*/ 1302 h 2371"/>
                <a:gd name="T52" fmla="*/ 1520 w 3292"/>
                <a:gd name="T53" fmla="*/ 1531 h 2371"/>
                <a:gd name="T54" fmla="*/ 2152 w 3292"/>
                <a:gd name="T55" fmla="*/ 1725 h 2371"/>
                <a:gd name="T56" fmla="*/ 2411 w 3292"/>
                <a:gd name="T57" fmla="*/ 2101 h 2371"/>
                <a:gd name="T58" fmla="*/ 2405 w 3292"/>
                <a:gd name="T59" fmla="*/ 2342 h 2371"/>
                <a:gd name="T60" fmla="*/ 2398 w 3292"/>
                <a:gd name="T61" fmla="*/ 2371 h 2371"/>
                <a:gd name="T62" fmla="*/ 2429 w 3292"/>
                <a:gd name="T63" fmla="*/ 2371 h 2371"/>
                <a:gd name="T64" fmla="*/ 3214 w 3292"/>
                <a:gd name="T65" fmla="*/ 2371 h 2371"/>
                <a:gd name="T66" fmla="*/ 3233 w 3292"/>
                <a:gd name="T67" fmla="*/ 2371 h 2371"/>
                <a:gd name="T68" fmla="*/ 3238 w 3292"/>
                <a:gd name="T69" fmla="*/ 2353 h 2371"/>
                <a:gd name="T70" fmla="*/ 3237 w 3292"/>
                <a:gd name="T71" fmla="*/ 2146 h 2371"/>
                <a:gd name="T72" fmla="*/ 3167 w 3292"/>
                <a:gd name="T73" fmla="*/ 1932 h 2371"/>
                <a:gd name="T74" fmla="*/ 2990 w 3292"/>
                <a:gd name="T75" fmla="*/ 1679 h 2371"/>
                <a:gd name="T76" fmla="*/ 1687 w 3292"/>
                <a:gd name="T77" fmla="*/ 1181 h 2371"/>
                <a:gd name="T78" fmla="*/ 1240 w 3292"/>
                <a:gd name="T79" fmla="*/ 1065 h 2371"/>
                <a:gd name="T80" fmla="*/ 1110 w 3292"/>
                <a:gd name="T81" fmla="*/ 1013 h 2371"/>
                <a:gd name="T82" fmla="*/ 1073 w 3292"/>
                <a:gd name="T83" fmla="*/ 979 h 2371"/>
                <a:gd name="T84" fmla="*/ 1207 w 3292"/>
                <a:gd name="T85" fmla="*/ 836 h 2371"/>
                <a:gd name="T86" fmla="*/ 1526 w 3292"/>
                <a:gd name="T87" fmla="*/ 735 h 2371"/>
                <a:gd name="T88" fmla="*/ 1833 w 3292"/>
                <a:gd name="T89" fmla="*/ 639 h 2371"/>
                <a:gd name="T90" fmla="*/ 1984 w 3292"/>
                <a:gd name="T91" fmla="*/ 472 h 2371"/>
                <a:gd name="T92" fmla="*/ 1786 w 3292"/>
                <a:gd name="T93" fmla="*/ 256 h 2371"/>
                <a:gd name="T94" fmla="*/ 1311 w 3292"/>
                <a:gd name="T95" fmla="*/ 114 h 2371"/>
                <a:gd name="T96" fmla="*/ 24 w 3292"/>
                <a:gd name="T97" fmla="*/ 0 h 2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292" h="2371">
                  <a:moveTo>
                    <a:pt x="24" y="24"/>
                  </a:moveTo>
                  <a:cubicBezTo>
                    <a:pt x="864" y="24"/>
                    <a:pt x="1959" y="178"/>
                    <a:pt x="1959" y="472"/>
                  </a:cubicBezTo>
                  <a:cubicBezTo>
                    <a:pt x="1959" y="728"/>
                    <a:pt x="1048" y="698"/>
                    <a:pt x="1048" y="979"/>
                  </a:cubicBezTo>
                  <a:cubicBezTo>
                    <a:pt x="1048" y="1154"/>
                    <a:pt x="2596" y="1288"/>
                    <a:pt x="2973" y="1695"/>
                  </a:cubicBezTo>
                  <a:cubicBezTo>
                    <a:pt x="3292" y="2040"/>
                    <a:pt x="3214" y="2347"/>
                    <a:pt x="3214" y="2347"/>
                  </a:cubicBezTo>
                  <a:cubicBezTo>
                    <a:pt x="2429" y="2347"/>
                    <a:pt x="2429" y="2347"/>
                    <a:pt x="2429" y="2347"/>
                  </a:cubicBezTo>
                  <a:cubicBezTo>
                    <a:pt x="2429" y="2347"/>
                    <a:pt x="2534" y="1900"/>
                    <a:pt x="2163" y="1704"/>
                  </a:cubicBezTo>
                  <a:cubicBezTo>
                    <a:pt x="1793" y="1508"/>
                    <a:pt x="382" y="1350"/>
                    <a:pt x="382" y="958"/>
                  </a:cubicBezTo>
                  <a:cubicBezTo>
                    <a:pt x="382" y="566"/>
                    <a:pt x="1293" y="612"/>
                    <a:pt x="1293" y="425"/>
                  </a:cubicBezTo>
                  <a:cubicBezTo>
                    <a:pt x="1293" y="237"/>
                    <a:pt x="24" y="177"/>
                    <a:pt x="24" y="177"/>
                  </a:cubicBezTo>
                  <a:cubicBezTo>
                    <a:pt x="24" y="24"/>
                    <a:pt x="24" y="24"/>
                    <a:pt x="24" y="24"/>
                  </a:cubicBezTo>
                  <a:moveTo>
                    <a:pt x="2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23" y="202"/>
                    <a:pt x="23" y="202"/>
                    <a:pt x="23" y="202"/>
                  </a:cubicBezTo>
                  <a:cubicBezTo>
                    <a:pt x="26" y="202"/>
                    <a:pt x="343" y="217"/>
                    <a:pt x="656" y="255"/>
                  </a:cubicBezTo>
                  <a:cubicBezTo>
                    <a:pt x="1239" y="326"/>
                    <a:pt x="1269" y="409"/>
                    <a:pt x="1269" y="425"/>
                  </a:cubicBezTo>
                  <a:cubicBezTo>
                    <a:pt x="1269" y="448"/>
                    <a:pt x="1241" y="471"/>
                    <a:pt x="1185" y="494"/>
                  </a:cubicBezTo>
                  <a:cubicBezTo>
                    <a:pt x="1126" y="518"/>
                    <a:pt x="1043" y="538"/>
                    <a:pt x="955" y="560"/>
                  </a:cubicBezTo>
                  <a:cubicBezTo>
                    <a:pt x="825" y="592"/>
                    <a:pt x="677" y="628"/>
                    <a:pt x="563" y="686"/>
                  </a:cubicBezTo>
                  <a:cubicBezTo>
                    <a:pt x="499" y="718"/>
                    <a:pt x="451" y="754"/>
                    <a:pt x="417" y="795"/>
                  </a:cubicBezTo>
                  <a:cubicBezTo>
                    <a:pt x="378" y="843"/>
                    <a:pt x="358" y="897"/>
                    <a:pt x="358" y="958"/>
                  </a:cubicBezTo>
                  <a:cubicBezTo>
                    <a:pt x="358" y="1027"/>
                    <a:pt x="396" y="1092"/>
                    <a:pt x="472" y="1153"/>
                  </a:cubicBezTo>
                  <a:cubicBezTo>
                    <a:pt x="536" y="1205"/>
                    <a:pt x="626" y="1254"/>
                    <a:pt x="748" y="1302"/>
                  </a:cubicBezTo>
                  <a:cubicBezTo>
                    <a:pt x="970" y="1391"/>
                    <a:pt x="1262" y="1466"/>
                    <a:pt x="1520" y="1531"/>
                  </a:cubicBezTo>
                  <a:cubicBezTo>
                    <a:pt x="1782" y="1597"/>
                    <a:pt x="2029" y="1660"/>
                    <a:pt x="2152" y="1725"/>
                  </a:cubicBezTo>
                  <a:cubicBezTo>
                    <a:pt x="2298" y="1802"/>
                    <a:pt x="2385" y="1929"/>
                    <a:pt x="2411" y="2101"/>
                  </a:cubicBezTo>
                  <a:cubicBezTo>
                    <a:pt x="2430" y="2231"/>
                    <a:pt x="2405" y="2341"/>
                    <a:pt x="2405" y="2342"/>
                  </a:cubicBezTo>
                  <a:cubicBezTo>
                    <a:pt x="2398" y="2371"/>
                    <a:pt x="2398" y="2371"/>
                    <a:pt x="2398" y="2371"/>
                  </a:cubicBezTo>
                  <a:cubicBezTo>
                    <a:pt x="2429" y="2371"/>
                    <a:pt x="2429" y="2371"/>
                    <a:pt x="2429" y="2371"/>
                  </a:cubicBezTo>
                  <a:cubicBezTo>
                    <a:pt x="3214" y="2371"/>
                    <a:pt x="3214" y="2371"/>
                    <a:pt x="3214" y="2371"/>
                  </a:cubicBezTo>
                  <a:cubicBezTo>
                    <a:pt x="3233" y="2371"/>
                    <a:pt x="3233" y="2371"/>
                    <a:pt x="3233" y="2371"/>
                  </a:cubicBezTo>
                  <a:cubicBezTo>
                    <a:pt x="3238" y="2353"/>
                    <a:pt x="3238" y="2353"/>
                    <a:pt x="3238" y="2353"/>
                  </a:cubicBezTo>
                  <a:cubicBezTo>
                    <a:pt x="3238" y="2350"/>
                    <a:pt x="3258" y="2270"/>
                    <a:pt x="3237" y="2146"/>
                  </a:cubicBezTo>
                  <a:cubicBezTo>
                    <a:pt x="3225" y="2075"/>
                    <a:pt x="3201" y="2002"/>
                    <a:pt x="3167" y="1932"/>
                  </a:cubicBezTo>
                  <a:cubicBezTo>
                    <a:pt x="3124" y="1844"/>
                    <a:pt x="3065" y="1759"/>
                    <a:pt x="2990" y="1679"/>
                  </a:cubicBezTo>
                  <a:cubicBezTo>
                    <a:pt x="2769" y="1440"/>
                    <a:pt x="2169" y="1296"/>
                    <a:pt x="1687" y="1181"/>
                  </a:cubicBezTo>
                  <a:cubicBezTo>
                    <a:pt x="1508" y="1138"/>
                    <a:pt x="1354" y="1101"/>
                    <a:pt x="1240" y="1065"/>
                  </a:cubicBezTo>
                  <a:cubicBezTo>
                    <a:pt x="1181" y="1046"/>
                    <a:pt x="1138" y="1029"/>
                    <a:pt x="1110" y="1013"/>
                  </a:cubicBezTo>
                  <a:cubicBezTo>
                    <a:pt x="1074" y="992"/>
                    <a:pt x="1073" y="980"/>
                    <a:pt x="1073" y="979"/>
                  </a:cubicBezTo>
                  <a:cubicBezTo>
                    <a:pt x="1073" y="925"/>
                    <a:pt x="1117" y="878"/>
                    <a:pt x="1207" y="836"/>
                  </a:cubicBezTo>
                  <a:cubicBezTo>
                    <a:pt x="1294" y="796"/>
                    <a:pt x="1412" y="765"/>
                    <a:pt x="1526" y="735"/>
                  </a:cubicBezTo>
                  <a:cubicBezTo>
                    <a:pt x="1636" y="706"/>
                    <a:pt x="1749" y="677"/>
                    <a:pt x="1833" y="639"/>
                  </a:cubicBezTo>
                  <a:cubicBezTo>
                    <a:pt x="1934" y="593"/>
                    <a:pt x="1984" y="538"/>
                    <a:pt x="1984" y="472"/>
                  </a:cubicBezTo>
                  <a:cubicBezTo>
                    <a:pt x="1984" y="392"/>
                    <a:pt x="1917" y="319"/>
                    <a:pt x="1786" y="256"/>
                  </a:cubicBezTo>
                  <a:cubicBezTo>
                    <a:pt x="1673" y="202"/>
                    <a:pt x="1514" y="154"/>
                    <a:pt x="1311" y="114"/>
                  </a:cubicBezTo>
                  <a:cubicBezTo>
                    <a:pt x="951" y="42"/>
                    <a:pt x="470" y="0"/>
                    <a:pt x="2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93EC1A43-F700-B1FB-860C-E1C12DEC8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88751" y="2189013"/>
              <a:ext cx="5957941" cy="4697213"/>
            </a:xfrm>
            <a:custGeom>
              <a:avLst/>
              <a:gdLst>
                <a:gd name="T0" fmla="*/ 919 w 2828"/>
                <a:gd name="T1" fmla="*/ 662 h 2229"/>
                <a:gd name="T2" fmla="*/ 916 w 2828"/>
                <a:gd name="T3" fmla="*/ 1063 h 2229"/>
                <a:gd name="T4" fmla="*/ 919 w 2828"/>
                <a:gd name="T5" fmla="*/ 1056 h 2229"/>
                <a:gd name="T6" fmla="*/ 1065 w 2828"/>
                <a:gd name="T7" fmla="*/ 98 h 2229"/>
                <a:gd name="T8" fmla="*/ 1017 w 2828"/>
                <a:gd name="T9" fmla="*/ 90 h 2229"/>
                <a:gd name="T10" fmla="*/ 812 w 2828"/>
                <a:gd name="T11" fmla="*/ 999 h 2229"/>
                <a:gd name="T12" fmla="*/ 1073 w 2828"/>
                <a:gd name="T13" fmla="*/ 1127 h 2229"/>
                <a:gd name="T14" fmla="*/ 1076 w 2828"/>
                <a:gd name="T15" fmla="*/ 1120 h 2229"/>
                <a:gd name="T16" fmla="*/ 1231 w 2828"/>
                <a:gd name="T17" fmla="*/ 131 h 2229"/>
                <a:gd name="T18" fmla="*/ 1184 w 2828"/>
                <a:gd name="T19" fmla="*/ 121 h 2229"/>
                <a:gd name="T20" fmla="*/ 1122 w 2828"/>
                <a:gd name="T21" fmla="*/ 582 h 2229"/>
                <a:gd name="T22" fmla="*/ 341 w 2828"/>
                <a:gd name="T23" fmla="*/ 22 h 2229"/>
                <a:gd name="T24" fmla="*/ 341 w 2828"/>
                <a:gd name="T25" fmla="*/ 14 h 2229"/>
                <a:gd name="T26" fmla="*/ 49 w 2828"/>
                <a:gd name="T27" fmla="*/ 9 h 2229"/>
                <a:gd name="T28" fmla="*/ 0 w 2828"/>
                <a:gd name="T29" fmla="*/ 8 h 2229"/>
                <a:gd name="T30" fmla="*/ 1283 w 2828"/>
                <a:gd name="T31" fmla="*/ 1188 h 2229"/>
                <a:gd name="T32" fmla="*/ 171 w 2828"/>
                <a:gd name="T33" fmla="*/ 13 h 2229"/>
                <a:gd name="T34" fmla="*/ 171 w 2828"/>
                <a:gd name="T35" fmla="*/ 5 h 2229"/>
                <a:gd name="T36" fmla="*/ 1280 w 2828"/>
                <a:gd name="T37" fmla="*/ 519 h 2229"/>
                <a:gd name="T38" fmla="*/ 1283 w 2828"/>
                <a:gd name="T39" fmla="*/ 526 h 2229"/>
                <a:gd name="T40" fmla="*/ 688 w 2828"/>
                <a:gd name="T41" fmla="*/ 858 h 2229"/>
                <a:gd name="T42" fmla="*/ 696 w 2828"/>
                <a:gd name="T43" fmla="*/ 858 h 2229"/>
                <a:gd name="T44" fmla="*/ 728 w 2828"/>
                <a:gd name="T45" fmla="*/ 53 h 2229"/>
                <a:gd name="T46" fmla="*/ 680 w 2828"/>
                <a:gd name="T47" fmla="*/ 48 h 2229"/>
                <a:gd name="T48" fmla="*/ 808 w 2828"/>
                <a:gd name="T49" fmla="*/ 712 h 2229"/>
                <a:gd name="T50" fmla="*/ 772 w 2828"/>
                <a:gd name="T51" fmla="*/ 745 h 2229"/>
                <a:gd name="T52" fmla="*/ 559 w 2828"/>
                <a:gd name="T53" fmla="*/ 37 h 2229"/>
                <a:gd name="T54" fmla="*/ 510 w 2828"/>
                <a:gd name="T55" fmla="*/ 33 h 2229"/>
                <a:gd name="T56" fmla="*/ 898 w 2828"/>
                <a:gd name="T57" fmla="*/ 64 h 2229"/>
                <a:gd name="T58" fmla="*/ 2514 w 2828"/>
                <a:gd name="T59" fmla="*/ 1616 h 2229"/>
                <a:gd name="T60" fmla="*/ 2518 w 2828"/>
                <a:gd name="T61" fmla="*/ 1610 h 2229"/>
                <a:gd name="T62" fmla="*/ 2409 w 2828"/>
                <a:gd name="T63" fmla="*/ 1556 h 2229"/>
                <a:gd name="T64" fmla="*/ 2366 w 2828"/>
                <a:gd name="T65" fmla="*/ 1534 h 2229"/>
                <a:gd name="T66" fmla="*/ 2100 w 2828"/>
                <a:gd name="T67" fmla="*/ 1418 h 2229"/>
                <a:gd name="T68" fmla="*/ 2645 w 2828"/>
                <a:gd name="T69" fmla="*/ 1721 h 2229"/>
                <a:gd name="T70" fmla="*/ 2651 w 2828"/>
                <a:gd name="T71" fmla="*/ 1715 h 2229"/>
                <a:gd name="T72" fmla="*/ 2256 w 2828"/>
                <a:gd name="T73" fmla="*/ 1485 h 2229"/>
                <a:gd name="T74" fmla="*/ 2211 w 2828"/>
                <a:gd name="T75" fmla="*/ 1467 h 2229"/>
                <a:gd name="T76" fmla="*/ 2820 w 2828"/>
                <a:gd name="T77" fmla="*/ 2229 h 2229"/>
                <a:gd name="T78" fmla="*/ 2802 w 2828"/>
                <a:gd name="T79" fmla="*/ 2013 h 2229"/>
                <a:gd name="T80" fmla="*/ 2810 w 2828"/>
                <a:gd name="T81" fmla="*/ 2011 h 2229"/>
                <a:gd name="T82" fmla="*/ 2767 w 2828"/>
                <a:gd name="T83" fmla="*/ 1898 h 2229"/>
                <a:gd name="T84" fmla="*/ 2746 w 2828"/>
                <a:gd name="T85" fmla="*/ 1855 h 2229"/>
                <a:gd name="T86" fmla="*/ 1446 w 2828"/>
                <a:gd name="T87" fmla="*/ 1235 h 2229"/>
                <a:gd name="T88" fmla="*/ 1397 w 2828"/>
                <a:gd name="T89" fmla="*/ 171 h 2229"/>
                <a:gd name="T90" fmla="*/ 1394 w 2828"/>
                <a:gd name="T91" fmla="*/ 179 h 2229"/>
                <a:gd name="T92" fmla="*/ 1439 w 2828"/>
                <a:gd name="T93" fmla="*/ 458 h 2229"/>
                <a:gd name="T94" fmla="*/ 1442 w 2828"/>
                <a:gd name="T95" fmla="*/ 466 h 2229"/>
                <a:gd name="T96" fmla="*/ 1938 w 2828"/>
                <a:gd name="T97" fmla="*/ 1366 h 2229"/>
                <a:gd name="T98" fmla="*/ 1526 w 2828"/>
                <a:gd name="T99" fmla="*/ 240 h 2229"/>
                <a:gd name="T100" fmla="*/ 1521 w 2828"/>
                <a:gd name="T101" fmla="*/ 246 h 2229"/>
                <a:gd name="T102" fmla="*/ 1526 w 2828"/>
                <a:gd name="T103" fmla="*/ 240 h 2229"/>
                <a:gd name="T104" fmla="*/ 1774 w 2828"/>
                <a:gd name="T105" fmla="*/ 1320 h 2229"/>
                <a:gd name="T106" fmla="*/ 1561 w 2828"/>
                <a:gd name="T107" fmla="*/ 1275 h 2229"/>
                <a:gd name="T108" fmla="*/ 1563 w 2828"/>
                <a:gd name="T109" fmla="*/ 1267 h 2229"/>
                <a:gd name="T110" fmla="*/ 1543 w 2828"/>
                <a:gd name="T111" fmla="*/ 399 h 2229"/>
                <a:gd name="T112" fmla="*/ 1573 w 2828"/>
                <a:gd name="T113" fmla="*/ 363 h 2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28" h="2229">
                  <a:moveTo>
                    <a:pt x="960" y="635"/>
                  </a:moveTo>
                  <a:cubicBezTo>
                    <a:pt x="964" y="643"/>
                    <a:pt x="964" y="643"/>
                    <a:pt x="964" y="643"/>
                  </a:cubicBezTo>
                  <a:cubicBezTo>
                    <a:pt x="948" y="649"/>
                    <a:pt x="933" y="656"/>
                    <a:pt x="919" y="662"/>
                  </a:cubicBezTo>
                  <a:cubicBezTo>
                    <a:pt x="916" y="655"/>
                    <a:pt x="916" y="655"/>
                    <a:pt x="916" y="655"/>
                  </a:cubicBezTo>
                  <a:cubicBezTo>
                    <a:pt x="930" y="648"/>
                    <a:pt x="945" y="642"/>
                    <a:pt x="960" y="635"/>
                  </a:cubicBezTo>
                  <a:close/>
                  <a:moveTo>
                    <a:pt x="916" y="1063"/>
                  </a:moveTo>
                  <a:cubicBezTo>
                    <a:pt x="930" y="1070"/>
                    <a:pt x="945" y="1076"/>
                    <a:pt x="960" y="1083"/>
                  </a:cubicBezTo>
                  <a:cubicBezTo>
                    <a:pt x="963" y="1076"/>
                    <a:pt x="963" y="1076"/>
                    <a:pt x="963" y="1076"/>
                  </a:cubicBezTo>
                  <a:cubicBezTo>
                    <a:pt x="948" y="1069"/>
                    <a:pt x="933" y="1062"/>
                    <a:pt x="919" y="1056"/>
                  </a:cubicBezTo>
                  <a:lnTo>
                    <a:pt x="916" y="1063"/>
                  </a:lnTo>
                  <a:close/>
                  <a:moveTo>
                    <a:pt x="1017" y="90"/>
                  </a:moveTo>
                  <a:cubicBezTo>
                    <a:pt x="1033" y="92"/>
                    <a:pt x="1049" y="95"/>
                    <a:pt x="1065" y="98"/>
                  </a:cubicBezTo>
                  <a:cubicBezTo>
                    <a:pt x="1066" y="90"/>
                    <a:pt x="1066" y="90"/>
                    <a:pt x="1066" y="90"/>
                  </a:cubicBezTo>
                  <a:cubicBezTo>
                    <a:pt x="1051" y="87"/>
                    <a:pt x="1035" y="84"/>
                    <a:pt x="1018" y="82"/>
                  </a:cubicBezTo>
                  <a:lnTo>
                    <a:pt x="1017" y="90"/>
                  </a:lnTo>
                  <a:close/>
                  <a:moveTo>
                    <a:pt x="768" y="979"/>
                  </a:moveTo>
                  <a:cubicBezTo>
                    <a:pt x="780" y="988"/>
                    <a:pt x="793" y="997"/>
                    <a:pt x="808" y="1006"/>
                  </a:cubicBezTo>
                  <a:cubicBezTo>
                    <a:pt x="812" y="999"/>
                    <a:pt x="812" y="999"/>
                    <a:pt x="812" y="999"/>
                  </a:cubicBezTo>
                  <a:cubicBezTo>
                    <a:pt x="798" y="990"/>
                    <a:pt x="785" y="981"/>
                    <a:pt x="773" y="972"/>
                  </a:cubicBezTo>
                  <a:lnTo>
                    <a:pt x="768" y="979"/>
                  </a:lnTo>
                  <a:close/>
                  <a:moveTo>
                    <a:pt x="1073" y="1127"/>
                  </a:moveTo>
                  <a:cubicBezTo>
                    <a:pt x="1088" y="1133"/>
                    <a:pt x="1103" y="1138"/>
                    <a:pt x="1119" y="1144"/>
                  </a:cubicBezTo>
                  <a:cubicBezTo>
                    <a:pt x="1121" y="1136"/>
                    <a:pt x="1121" y="1136"/>
                    <a:pt x="1121" y="1136"/>
                  </a:cubicBezTo>
                  <a:cubicBezTo>
                    <a:pt x="1106" y="1131"/>
                    <a:pt x="1090" y="1125"/>
                    <a:pt x="1076" y="1120"/>
                  </a:cubicBezTo>
                  <a:lnTo>
                    <a:pt x="1073" y="1127"/>
                  </a:lnTo>
                  <a:close/>
                  <a:moveTo>
                    <a:pt x="1184" y="121"/>
                  </a:moveTo>
                  <a:cubicBezTo>
                    <a:pt x="1200" y="124"/>
                    <a:pt x="1216" y="128"/>
                    <a:pt x="1231" y="131"/>
                  </a:cubicBezTo>
                  <a:cubicBezTo>
                    <a:pt x="1233" y="123"/>
                    <a:pt x="1233" y="123"/>
                    <a:pt x="1233" y="123"/>
                  </a:cubicBezTo>
                  <a:cubicBezTo>
                    <a:pt x="1218" y="120"/>
                    <a:pt x="1202" y="116"/>
                    <a:pt x="1186" y="113"/>
                  </a:cubicBezTo>
                  <a:lnTo>
                    <a:pt x="1184" y="121"/>
                  </a:lnTo>
                  <a:close/>
                  <a:moveTo>
                    <a:pt x="1074" y="591"/>
                  </a:moveTo>
                  <a:cubicBezTo>
                    <a:pt x="1076" y="598"/>
                    <a:pt x="1076" y="598"/>
                    <a:pt x="1076" y="598"/>
                  </a:cubicBezTo>
                  <a:cubicBezTo>
                    <a:pt x="1091" y="593"/>
                    <a:pt x="1106" y="588"/>
                    <a:pt x="1122" y="582"/>
                  </a:cubicBezTo>
                  <a:cubicBezTo>
                    <a:pt x="1119" y="574"/>
                    <a:pt x="1119" y="574"/>
                    <a:pt x="1119" y="574"/>
                  </a:cubicBezTo>
                  <a:cubicBezTo>
                    <a:pt x="1103" y="580"/>
                    <a:pt x="1088" y="586"/>
                    <a:pt x="1074" y="591"/>
                  </a:cubicBezTo>
                  <a:close/>
                  <a:moveTo>
                    <a:pt x="341" y="22"/>
                  </a:moveTo>
                  <a:cubicBezTo>
                    <a:pt x="357" y="23"/>
                    <a:pt x="373" y="24"/>
                    <a:pt x="389" y="25"/>
                  </a:cubicBezTo>
                  <a:cubicBezTo>
                    <a:pt x="390" y="17"/>
                    <a:pt x="390" y="17"/>
                    <a:pt x="390" y="17"/>
                  </a:cubicBezTo>
                  <a:cubicBezTo>
                    <a:pt x="373" y="16"/>
                    <a:pt x="357" y="15"/>
                    <a:pt x="341" y="14"/>
                  </a:cubicBezTo>
                  <a:lnTo>
                    <a:pt x="341" y="22"/>
                  </a:lnTo>
                  <a:close/>
                  <a:moveTo>
                    <a:pt x="0" y="8"/>
                  </a:moveTo>
                  <a:cubicBezTo>
                    <a:pt x="0" y="8"/>
                    <a:pt x="18" y="8"/>
                    <a:pt x="49" y="9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18" y="0"/>
                    <a:pt x="0" y="0"/>
                    <a:pt x="0" y="0"/>
                  </a:cubicBezTo>
                  <a:lnTo>
                    <a:pt x="0" y="8"/>
                  </a:lnTo>
                  <a:close/>
                  <a:moveTo>
                    <a:pt x="1234" y="1182"/>
                  </a:moveTo>
                  <a:cubicBezTo>
                    <a:pt x="1249" y="1187"/>
                    <a:pt x="1265" y="1191"/>
                    <a:pt x="1280" y="1196"/>
                  </a:cubicBezTo>
                  <a:cubicBezTo>
                    <a:pt x="1283" y="1188"/>
                    <a:pt x="1283" y="1188"/>
                    <a:pt x="1283" y="1188"/>
                  </a:cubicBezTo>
                  <a:cubicBezTo>
                    <a:pt x="1267" y="1184"/>
                    <a:pt x="1252" y="1179"/>
                    <a:pt x="1236" y="1174"/>
                  </a:cubicBezTo>
                  <a:lnTo>
                    <a:pt x="1234" y="1182"/>
                  </a:lnTo>
                  <a:close/>
                  <a:moveTo>
                    <a:pt x="171" y="13"/>
                  </a:moveTo>
                  <a:cubicBezTo>
                    <a:pt x="186" y="14"/>
                    <a:pt x="202" y="15"/>
                    <a:pt x="219" y="16"/>
                  </a:cubicBezTo>
                  <a:cubicBezTo>
                    <a:pt x="220" y="7"/>
                    <a:pt x="220" y="7"/>
                    <a:pt x="220" y="7"/>
                  </a:cubicBezTo>
                  <a:cubicBezTo>
                    <a:pt x="203" y="7"/>
                    <a:pt x="186" y="6"/>
                    <a:pt x="171" y="5"/>
                  </a:cubicBezTo>
                  <a:lnTo>
                    <a:pt x="171" y="13"/>
                  </a:lnTo>
                  <a:close/>
                  <a:moveTo>
                    <a:pt x="1283" y="526"/>
                  </a:moveTo>
                  <a:cubicBezTo>
                    <a:pt x="1280" y="519"/>
                    <a:pt x="1280" y="519"/>
                    <a:pt x="1280" y="519"/>
                  </a:cubicBezTo>
                  <a:cubicBezTo>
                    <a:pt x="1265" y="524"/>
                    <a:pt x="1250" y="529"/>
                    <a:pt x="1234" y="535"/>
                  </a:cubicBezTo>
                  <a:cubicBezTo>
                    <a:pt x="1237" y="542"/>
                    <a:pt x="1237" y="542"/>
                    <a:pt x="1237" y="542"/>
                  </a:cubicBezTo>
                  <a:cubicBezTo>
                    <a:pt x="1252" y="537"/>
                    <a:pt x="1268" y="532"/>
                    <a:pt x="1283" y="526"/>
                  </a:cubicBezTo>
                  <a:close/>
                  <a:moveTo>
                    <a:pt x="699" y="836"/>
                  </a:moveTo>
                  <a:cubicBezTo>
                    <a:pt x="691" y="834"/>
                    <a:pt x="691" y="834"/>
                    <a:pt x="691" y="834"/>
                  </a:cubicBezTo>
                  <a:cubicBezTo>
                    <a:pt x="689" y="842"/>
                    <a:pt x="688" y="850"/>
                    <a:pt x="688" y="858"/>
                  </a:cubicBezTo>
                  <a:cubicBezTo>
                    <a:pt x="688" y="866"/>
                    <a:pt x="689" y="875"/>
                    <a:pt x="692" y="884"/>
                  </a:cubicBezTo>
                  <a:cubicBezTo>
                    <a:pt x="700" y="882"/>
                    <a:pt x="700" y="882"/>
                    <a:pt x="700" y="882"/>
                  </a:cubicBezTo>
                  <a:cubicBezTo>
                    <a:pt x="697" y="874"/>
                    <a:pt x="696" y="866"/>
                    <a:pt x="696" y="858"/>
                  </a:cubicBezTo>
                  <a:cubicBezTo>
                    <a:pt x="696" y="851"/>
                    <a:pt x="697" y="843"/>
                    <a:pt x="699" y="836"/>
                  </a:cubicBezTo>
                  <a:close/>
                  <a:moveTo>
                    <a:pt x="680" y="48"/>
                  </a:moveTo>
                  <a:cubicBezTo>
                    <a:pt x="696" y="50"/>
                    <a:pt x="712" y="51"/>
                    <a:pt x="728" y="53"/>
                  </a:cubicBezTo>
                  <a:cubicBezTo>
                    <a:pt x="729" y="45"/>
                    <a:pt x="729" y="45"/>
                    <a:pt x="729" y="45"/>
                  </a:cubicBezTo>
                  <a:cubicBezTo>
                    <a:pt x="713" y="43"/>
                    <a:pt x="697" y="41"/>
                    <a:pt x="681" y="40"/>
                  </a:cubicBezTo>
                  <a:lnTo>
                    <a:pt x="680" y="48"/>
                  </a:lnTo>
                  <a:close/>
                  <a:moveTo>
                    <a:pt x="804" y="724"/>
                  </a:moveTo>
                  <a:cubicBezTo>
                    <a:pt x="807" y="722"/>
                    <a:pt x="810" y="720"/>
                    <a:pt x="812" y="719"/>
                  </a:cubicBezTo>
                  <a:cubicBezTo>
                    <a:pt x="808" y="712"/>
                    <a:pt x="808" y="712"/>
                    <a:pt x="808" y="712"/>
                  </a:cubicBezTo>
                  <a:cubicBezTo>
                    <a:pt x="805" y="713"/>
                    <a:pt x="803" y="715"/>
                    <a:pt x="800" y="717"/>
                  </a:cubicBezTo>
                  <a:cubicBezTo>
                    <a:pt x="788" y="724"/>
                    <a:pt x="777" y="732"/>
                    <a:pt x="768" y="739"/>
                  </a:cubicBezTo>
                  <a:cubicBezTo>
                    <a:pt x="772" y="745"/>
                    <a:pt x="772" y="745"/>
                    <a:pt x="772" y="745"/>
                  </a:cubicBezTo>
                  <a:cubicBezTo>
                    <a:pt x="782" y="738"/>
                    <a:pt x="793" y="731"/>
                    <a:pt x="804" y="724"/>
                  </a:cubicBezTo>
                  <a:close/>
                  <a:moveTo>
                    <a:pt x="510" y="33"/>
                  </a:moveTo>
                  <a:cubicBezTo>
                    <a:pt x="526" y="35"/>
                    <a:pt x="543" y="36"/>
                    <a:pt x="559" y="37"/>
                  </a:cubicBezTo>
                  <a:cubicBezTo>
                    <a:pt x="559" y="29"/>
                    <a:pt x="559" y="29"/>
                    <a:pt x="559" y="29"/>
                  </a:cubicBezTo>
                  <a:cubicBezTo>
                    <a:pt x="543" y="28"/>
                    <a:pt x="527" y="27"/>
                    <a:pt x="511" y="25"/>
                  </a:cubicBezTo>
                  <a:lnTo>
                    <a:pt x="510" y="33"/>
                  </a:lnTo>
                  <a:close/>
                  <a:moveTo>
                    <a:pt x="849" y="66"/>
                  </a:moveTo>
                  <a:cubicBezTo>
                    <a:pt x="865" y="68"/>
                    <a:pt x="881" y="70"/>
                    <a:pt x="897" y="72"/>
                  </a:cubicBezTo>
                  <a:cubicBezTo>
                    <a:pt x="898" y="64"/>
                    <a:pt x="898" y="64"/>
                    <a:pt x="898" y="64"/>
                  </a:cubicBezTo>
                  <a:cubicBezTo>
                    <a:pt x="882" y="62"/>
                    <a:pt x="866" y="60"/>
                    <a:pt x="850" y="58"/>
                  </a:cubicBezTo>
                  <a:lnTo>
                    <a:pt x="849" y="66"/>
                  </a:lnTo>
                  <a:close/>
                  <a:moveTo>
                    <a:pt x="2514" y="1616"/>
                  </a:moveTo>
                  <a:cubicBezTo>
                    <a:pt x="2527" y="1625"/>
                    <a:pt x="2541" y="1634"/>
                    <a:pt x="2553" y="1644"/>
                  </a:cubicBezTo>
                  <a:cubicBezTo>
                    <a:pt x="2558" y="1637"/>
                    <a:pt x="2558" y="1637"/>
                    <a:pt x="2558" y="1637"/>
                  </a:cubicBezTo>
                  <a:cubicBezTo>
                    <a:pt x="2545" y="1628"/>
                    <a:pt x="2532" y="1619"/>
                    <a:pt x="2518" y="1610"/>
                  </a:cubicBezTo>
                  <a:lnTo>
                    <a:pt x="2514" y="1616"/>
                  </a:lnTo>
                  <a:close/>
                  <a:moveTo>
                    <a:pt x="2366" y="1534"/>
                  </a:moveTo>
                  <a:cubicBezTo>
                    <a:pt x="2381" y="1541"/>
                    <a:pt x="2395" y="1549"/>
                    <a:pt x="2409" y="1556"/>
                  </a:cubicBezTo>
                  <a:cubicBezTo>
                    <a:pt x="2413" y="1549"/>
                    <a:pt x="2413" y="1549"/>
                    <a:pt x="2413" y="1549"/>
                  </a:cubicBezTo>
                  <a:cubicBezTo>
                    <a:pt x="2399" y="1541"/>
                    <a:pt x="2384" y="1534"/>
                    <a:pt x="2370" y="1527"/>
                  </a:cubicBezTo>
                  <a:lnTo>
                    <a:pt x="2366" y="1534"/>
                  </a:lnTo>
                  <a:close/>
                  <a:moveTo>
                    <a:pt x="2051" y="1410"/>
                  </a:moveTo>
                  <a:cubicBezTo>
                    <a:pt x="2067" y="1415"/>
                    <a:pt x="2082" y="1420"/>
                    <a:pt x="2097" y="1425"/>
                  </a:cubicBezTo>
                  <a:cubicBezTo>
                    <a:pt x="2100" y="1418"/>
                    <a:pt x="2100" y="1418"/>
                    <a:pt x="2100" y="1418"/>
                  </a:cubicBezTo>
                  <a:cubicBezTo>
                    <a:pt x="2085" y="1413"/>
                    <a:pt x="2069" y="1407"/>
                    <a:pt x="2054" y="1402"/>
                  </a:cubicBezTo>
                  <a:lnTo>
                    <a:pt x="2051" y="1410"/>
                  </a:lnTo>
                  <a:close/>
                  <a:moveTo>
                    <a:pt x="2645" y="1721"/>
                  </a:moveTo>
                  <a:cubicBezTo>
                    <a:pt x="2657" y="1732"/>
                    <a:pt x="2668" y="1744"/>
                    <a:pt x="2678" y="1756"/>
                  </a:cubicBezTo>
                  <a:cubicBezTo>
                    <a:pt x="2684" y="1751"/>
                    <a:pt x="2684" y="1751"/>
                    <a:pt x="2684" y="1751"/>
                  </a:cubicBezTo>
                  <a:cubicBezTo>
                    <a:pt x="2674" y="1739"/>
                    <a:pt x="2663" y="1727"/>
                    <a:pt x="2651" y="1715"/>
                  </a:cubicBezTo>
                  <a:lnTo>
                    <a:pt x="2645" y="1721"/>
                  </a:lnTo>
                  <a:close/>
                  <a:moveTo>
                    <a:pt x="2211" y="1467"/>
                  </a:moveTo>
                  <a:cubicBezTo>
                    <a:pt x="2226" y="1473"/>
                    <a:pt x="2241" y="1479"/>
                    <a:pt x="2256" y="1485"/>
                  </a:cubicBezTo>
                  <a:cubicBezTo>
                    <a:pt x="2259" y="1477"/>
                    <a:pt x="2259" y="1477"/>
                    <a:pt x="2259" y="1477"/>
                  </a:cubicBezTo>
                  <a:cubicBezTo>
                    <a:pt x="2244" y="1471"/>
                    <a:pt x="2229" y="1465"/>
                    <a:pt x="2214" y="1459"/>
                  </a:cubicBezTo>
                  <a:lnTo>
                    <a:pt x="2211" y="1467"/>
                  </a:lnTo>
                  <a:close/>
                  <a:moveTo>
                    <a:pt x="2827" y="2181"/>
                  </a:moveTo>
                  <a:cubicBezTo>
                    <a:pt x="2819" y="2181"/>
                    <a:pt x="2819" y="2181"/>
                    <a:pt x="2819" y="2181"/>
                  </a:cubicBezTo>
                  <a:cubicBezTo>
                    <a:pt x="2820" y="2196"/>
                    <a:pt x="2820" y="2212"/>
                    <a:pt x="2820" y="2229"/>
                  </a:cubicBezTo>
                  <a:cubicBezTo>
                    <a:pt x="2828" y="2229"/>
                    <a:pt x="2828" y="2229"/>
                    <a:pt x="2828" y="2229"/>
                  </a:cubicBezTo>
                  <a:cubicBezTo>
                    <a:pt x="2828" y="2212"/>
                    <a:pt x="2828" y="2196"/>
                    <a:pt x="2827" y="2181"/>
                  </a:cubicBezTo>
                  <a:close/>
                  <a:moveTo>
                    <a:pt x="2802" y="2013"/>
                  </a:moveTo>
                  <a:cubicBezTo>
                    <a:pt x="2805" y="2028"/>
                    <a:pt x="2807" y="2044"/>
                    <a:pt x="2810" y="2060"/>
                  </a:cubicBezTo>
                  <a:cubicBezTo>
                    <a:pt x="2818" y="2059"/>
                    <a:pt x="2818" y="2059"/>
                    <a:pt x="2818" y="2059"/>
                  </a:cubicBezTo>
                  <a:cubicBezTo>
                    <a:pt x="2815" y="2043"/>
                    <a:pt x="2813" y="2027"/>
                    <a:pt x="2810" y="2011"/>
                  </a:cubicBezTo>
                  <a:lnTo>
                    <a:pt x="2802" y="2013"/>
                  </a:lnTo>
                  <a:close/>
                  <a:moveTo>
                    <a:pt x="2746" y="1855"/>
                  </a:moveTo>
                  <a:cubicBezTo>
                    <a:pt x="2754" y="1869"/>
                    <a:pt x="2761" y="1883"/>
                    <a:pt x="2767" y="1898"/>
                  </a:cubicBezTo>
                  <a:cubicBezTo>
                    <a:pt x="2774" y="1895"/>
                    <a:pt x="2774" y="1895"/>
                    <a:pt x="2774" y="1895"/>
                  </a:cubicBezTo>
                  <a:cubicBezTo>
                    <a:pt x="2768" y="1880"/>
                    <a:pt x="2761" y="1865"/>
                    <a:pt x="2753" y="1851"/>
                  </a:cubicBezTo>
                  <a:lnTo>
                    <a:pt x="2746" y="1855"/>
                  </a:lnTo>
                  <a:close/>
                  <a:moveTo>
                    <a:pt x="1397" y="1230"/>
                  </a:moveTo>
                  <a:cubicBezTo>
                    <a:pt x="1412" y="1235"/>
                    <a:pt x="1428" y="1239"/>
                    <a:pt x="1444" y="1243"/>
                  </a:cubicBezTo>
                  <a:cubicBezTo>
                    <a:pt x="1446" y="1235"/>
                    <a:pt x="1446" y="1235"/>
                    <a:pt x="1446" y="1235"/>
                  </a:cubicBezTo>
                  <a:cubicBezTo>
                    <a:pt x="1430" y="1231"/>
                    <a:pt x="1414" y="1227"/>
                    <a:pt x="1399" y="1222"/>
                  </a:cubicBezTo>
                  <a:lnTo>
                    <a:pt x="1397" y="1230"/>
                  </a:lnTo>
                  <a:close/>
                  <a:moveTo>
                    <a:pt x="1397" y="171"/>
                  </a:moveTo>
                  <a:cubicBezTo>
                    <a:pt x="1382" y="166"/>
                    <a:pt x="1367" y="161"/>
                    <a:pt x="1351" y="156"/>
                  </a:cubicBezTo>
                  <a:cubicBezTo>
                    <a:pt x="1348" y="163"/>
                    <a:pt x="1348" y="163"/>
                    <a:pt x="1348" y="163"/>
                  </a:cubicBezTo>
                  <a:cubicBezTo>
                    <a:pt x="1364" y="168"/>
                    <a:pt x="1380" y="174"/>
                    <a:pt x="1394" y="179"/>
                  </a:cubicBezTo>
                  <a:lnTo>
                    <a:pt x="1397" y="171"/>
                  </a:lnTo>
                  <a:close/>
                  <a:moveTo>
                    <a:pt x="1442" y="466"/>
                  </a:moveTo>
                  <a:cubicBezTo>
                    <a:pt x="1439" y="458"/>
                    <a:pt x="1439" y="458"/>
                    <a:pt x="1439" y="458"/>
                  </a:cubicBezTo>
                  <a:cubicBezTo>
                    <a:pt x="1425" y="464"/>
                    <a:pt x="1410" y="471"/>
                    <a:pt x="1394" y="477"/>
                  </a:cubicBezTo>
                  <a:cubicBezTo>
                    <a:pt x="1397" y="485"/>
                    <a:pt x="1397" y="485"/>
                    <a:pt x="1397" y="485"/>
                  </a:cubicBezTo>
                  <a:cubicBezTo>
                    <a:pt x="1413" y="478"/>
                    <a:pt x="1428" y="472"/>
                    <a:pt x="1442" y="466"/>
                  </a:cubicBezTo>
                  <a:close/>
                  <a:moveTo>
                    <a:pt x="1889" y="1360"/>
                  </a:moveTo>
                  <a:cubicBezTo>
                    <a:pt x="1905" y="1365"/>
                    <a:pt x="1920" y="1369"/>
                    <a:pt x="1936" y="1374"/>
                  </a:cubicBezTo>
                  <a:cubicBezTo>
                    <a:pt x="1938" y="1366"/>
                    <a:pt x="1938" y="1366"/>
                    <a:pt x="1938" y="1366"/>
                  </a:cubicBezTo>
                  <a:cubicBezTo>
                    <a:pt x="1923" y="1362"/>
                    <a:pt x="1907" y="1357"/>
                    <a:pt x="1891" y="1353"/>
                  </a:cubicBezTo>
                  <a:lnTo>
                    <a:pt x="1889" y="1360"/>
                  </a:lnTo>
                  <a:close/>
                  <a:moveTo>
                    <a:pt x="1526" y="240"/>
                  </a:moveTo>
                  <a:cubicBezTo>
                    <a:pt x="1520" y="235"/>
                    <a:pt x="1514" y="230"/>
                    <a:pt x="1507" y="225"/>
                  </a:cubicBezTo>
                  <a:cubicBezTo>
                    <a:pt x="1502" y="232"/>
                    <a:pt x="1502" y="232"/>
                    <a:pt x="1502" y="232"/>
                  </a:cubicBezTo>
                  <a:cubicBezTo>
                    <a:pt x="1509" y="236"/>
                    <a:pt x="1515" y="241"/>
                    <a:pt x="1521" y="246"/>
                  </a:cubicBezTo>
                  <a:cubicBezTo>
                    <a:pt x="1528" y="251"/>
                    <a:pt x="1534" y="257"/>
                    <a:pt x="1539" y="262"/>
                  </a:cubicBezTo>
                  <a:cubicBezTo>
                    <a:pt x="1545" y="256"/>
                    <a:pt x="1545" y="256"/>
                    <a:pt x="1545" y="256"/>
                  </a:cubicBezTo>
                  <a:cubicBezTo>
                    <a:pt x="1539" y="251"/>
                    <a:pt x="1533" y="245"/>
                    <a:pt x="1526" y="240"/>
                  </a:cubicBezTo>
                  <a:close/>
                  <a:moveTo>
                    <a:pt x="1725" y="1316"/>
                  </a:moveTo>
                  <a:cubicBezTo>
                    <a:pt x="1741" y="1320"/>
                    <a:pt x="1757" y="1324"/>
                    <a:pt x="1772" y="1328"/>
                  </a:cubicBezTo>
                  <a:cubicBezTo>
                    <a:pt x="1774" y="1320"/>
                    <a:pt x="1774" y="1320"/>
                    <a:pt x="1774" y="1320"/>
                  </a:cubicBezTo>
                  <a:cubicBezTo>
                    <a:pt x="1759" y="1316"/>
                    <a:pt x="1743" y="1312"/>
                    <a:pt x="1727" y="1308"/>
                  </a:cubicBezTo>
                  <a:lnTo>
                    <a:pt x="1725" y="1316"/>
                  </a:lnTo>
                  <a:close/>
                  <a:moveTo>
                    <a:pt x="1561" y="1275"/>
                  </a:moveTo>
                  <a:cubicBezTo>
                    <a:pt x="1576" y="1279"/>
                    <a:pt x="1592" y="1283"/>
                    <a:pt x="1608" y="1287"/>
                  </a:cubicBezTo>
                  <a:cubicBezTo>
                    <a:pt x="1610" y="1279"/>
                    <a:pt x="1610" y="1279"/>
                    <a:pt x="1610" y="1279"/>
                  </a:cubicBezTo>
                  <a:cubicBezTo>
                    <a:pt x="1594" y="1275"/>
                    <a:pt x="1578" y="1271"/>
                    <a:pt x="1563" y="1267"/>
                  </a:cubicBezTo>
                  <a:lnTo>
                    <a:pt x="1561" y="1275"/>
                  </a:lnTo>
                  <a:close/>
                  <a:moveTo>
                    <a:pt x="1573" y="363"/>
                  </a:moveTo>
                  <a:cubicBezTo>
                    <a:pt x="1567" y="375"/>
                    <a:pt x="1556" y="387"/>
                    <a:pt x="1543" y="399"/>
                  </a:cubicBezTo>
                  <a:cubicBezTo>
                    <a:pt x="1548" y="405"/>
                    <a:pt x="1548" y="405"/>
                    <a:pt x="1548" y="405"/>
                  </a:cubicBezTo>
                  <a:cubicBezTo>
                    <a:pt x="1562" y="393"/>
                    <a:pt x="1573" y="380"/>
                    <a:pt x="1580" y="367"/>
                  </a:cubicBezTo>
                  <a:lnTo>
                    <a:pt x="1573" y="3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5487FAA-A175-1EDF-BB1D-3AA35BF01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535" y="3893458"/>
              <a:ext cx="425462" cy="693345"/>
            </a:xfrm>
            <a:custGeom>
              <a:avLst/>
              <a:gdLst>
                <a:gd name="T0" fmla="*/ 97 w 194"/>
                <a:gd name="T1" fmla="*/ 0 h 316"/>
                <a:gd name="T2" fmla="*/ 0 w 194"/>
                <a:gd name="T3" fmla="*/ 97 h 316"/>
                <a:gd name="T4" fmla="*/ 97 w 194"/>
                <a:gd name="T5" fmla="*/ 316 h 316"/>
                <a:gd name="T6" fmla="*/ 194 w 194"/>
                <a:gd name="T7" fmla="*/ 97 h 316"/>
                <a:gd name="T8" fmla="*/ 97 w 194"/>
                <a:gd name="T9" fmla="*/ 0 h 316"/>
                <a:gd name="T10" fmla="*/ 97 w 194"/>
                <a:gd name="T11" fmla="*/ 153 h 316"/>
                <a:gd name="T12" fmla="*/ 47 w 194"/>
                <a:gd name="T13" fmla="*/ 104 h 316"/>
                <a:gd name="T14" fmla="*/ 97 w 194"/>
                <a:gd name="T15" fmla="*/ 54 h 316"/>
                <a:gd name="T16" fmla="*/ 146 w 194"/>
                <a:gd name="T17" fmla="*/ 104 h 316"/>
                <a:gd name="T18" fmla="*/ 97 w 194"/>
                <a:gd name="T19" fmla="*/ 15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316">
                  <a:moveTo>
                    <a:pt x="97" y="0"/>
                  </a:moveTo>
                  <a:cubicBezTo>
                    <a:pt x="43" y="0"/>
                    <a:pt x="0" y="43"/>
                    <a:pt x="0" y="97"/>
                  </a:cubicBezTo>
                  <a:cubicBezTo>
                    <a:pt x="0" y="150"/>
                    <a:pt x="97" y="316"/>
                    <a:pt x="97" y="316"/>
                  </a:cubicBezTo>
                  <a:cubicBezTo>
                    <a:pt x="97" y="316"/>
                    <a:pt x="194" y="150"/>
                    <a:pt x="194" y="97"/>
                  </a:cubicBezTo>
                  <a:cubicBezTo>
                    <a:pt x="194" y="43"/>
                    <a:pt x="150" y="0"/>
                    <a:pt x="97" y="0"/>
                  </a:cubicBezTo>
                  <a:close/>
                  <a:moveTo>
                    <a:pt x="97" y="153"/>
                  </a:moveTo>
                  <a:cubicBezTo>
                    <a:pt x="70" y="153"/>
                    <a:pt x="47" y="131"/>
                    <a:pt x="47" y="104"/>
                  </a:cubicBezTo>
                  <a:cubicBezTo>
                    <a:pt x="47" y="77"/>
                    <a:pt x="70" y="54"/>
                    <a:pt x="97" y="54"/>
                  </a:cubicBezTo>
                  <a:cubicBezTo>
                    <a:pt x="124" y="54"/>
                    <a:pt x="146" y="77"/>
                    <a:pt x="146" y="104"/>
                  </a:cubicBezTo>
                  <a:cubicBezTo>
                    <a:pt x="146" y="131"/>
                    <a:pt x="124" y="153"/>
                    <a:pt x="97" y="1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E60417D-3CD6-A2B7-45E7-6B5E067AB9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6787" y="5487848"/>
              <a:ext cx="618995" cy="1007384"/>
            </a:xfrm>
            <a:custGeom>
              <a:avLst/>
              <a:gdLst>
                <a:gd name="T0" fmla="*/ 97 w 194"/>
                <a:gd name="T1" fmla="*/ 0 h 316"/>
                <a:gd name="T2" fmla="*/ 0 w 194"/>
                <a:gd name="T3" fmla="*/ 97 h 316"/>
                <a:gd name="T4" fmla="*/ 97 w 194"/>
                <a:gd name="T5" fmla="*/ 316 h 316"/>
                <a:gd name="T6" fmla="*/ 194 w 194"/>
                <a:gd name="T7" fmla="*/ 97 h 316"/>
                <a:gd name="T8" fmla="*/ 97 w 194"/>
                <a:gd name="T9" fmla="*/ 0 h 316"/>
                <a:gd name="T10" fmla="*/ 97 w 194"/>
                <a:gd name="T11" fmla="*/ 153 h 316"/>
                <a:gd name="T12" fmla="*/ 48 w 194"/>
                <a:gd name="T13" fmla="*/ 104 h 316"/>
                <a:gd name="T14" fmla="*/ 97 w 194"/>
                <a:gd name="T15" fmla="*/ 54 h 316"/>
                <a:gd name="T16" fmla="*/ 147 w 194"/>
                <a:gd name="T17" fmla="*/ 104 h 316"/>
                <a:gd name="T18" fmla="*/ 97 w 194"/>
                <a:gd name="T19" fmla="*/ 15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316">
                  <a:moveTo>
                    <a:pt x="97" y="0"/>
                  </a:move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97" y="316"/>
                    <a:pt x="97" y="316"/>
                  </a:cubicBezTo>
                  <a:cubicBezTo>
                    <a:pt x="97" y="316"/>
                    <a:pt x="194" y="150"/>
                    <a:pt x="194" y="97"/>
                  </a:cubicBezTo>
                  <a:cubicBezTo>
                    <a:pt x="194" y="43"/>
                    <a:pt x="151" y="0"/>
                    <a:pt x="97" y="0"/>
                  </a:cubicBezTo>
                  <a:close/>
                  <a:moveTo>
                    <a:pt x="97" y="153"/>
                  </a:moveTo>
                  <a:cubicBezTo>
                    <a:pt x="70" y="153"/>
                    <a:pt x="48" y="131"/>
                    <a:pt x="48" y="104"/>
                  </a:cubicBezTo>
                  <a:cubicBezTo>
                    <a:pt x="48" y="76"/>
                    <a:pt x="70" y="54"/>
                    <a:pt x="97" y="54"/>
                  </a:cubicBezTo>
                  <a:cubicBezTo>
                    <a:pt x="124" y="54"/>
                    <a:pt x="147" y="76"/>
                    <a:pt x="147" y="104"/>
                  </a:cubicBezTo>
                  <a:cubicBezTo>
                    <a:pt x="147" y="131"/>
                    <a:pt x="124" y="153"/>
                    <a:pt x="97" y="1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F998C37-A10D-5F32-9BB5-00B841DC27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5774" y="4097385"/>
              <a:ext cx="523707" cy="852309"/>
            </a:xfrm>
            <a:custGeom>
              <a:avLst/>
              <a:gdLst>
                <a:gd name="T0" fmla="*/ 97 w 194"/>
                <a:gd name="T1" fmla="*/ 0 h 316"/>
                <a:gd name="T2" fmla="*/ 0 w 194"/>
                <a:gd name="T3" fmla="*/ 97 h 316"/>
                <a:gd name="T4" fmla="*/ 97 w 194"/>
                <a:gd name="T5" fmla="*/ 316 h 316"/>
                <a:gd name="T6" fmla="*/ 194 w 194"/>
                <a:gd name="T7" fmla="*/ 97 h 316"/>
                <a:gd name="T8" fmla="*/ 97 w 194"/>
                <a:gd name="T9" fmla="*/ 0 h 316"/>
                <a:gd name="T10" fmla="*/ 97 w 194"/>
                <a:gd name="T11" fmla="*/ 153 h 316"/>
                <a:gd name="T12" fmla="*/ 48 w 194"/>
                <a:gd name="T13" fmla="*/ 104 h 316"/>
                <a:gd name="T14" fmla="*/ 97 w 194"/>
                <a:gd name="T15" fmla="*/ 54 h 316"/>
                <a:gd name="T16" fmla="*/ 147 w 194"/>
                <a:gd name="T17" fmla="*/ 104 h 316"/>
                <a:gd name="T18" fmla="*/ 97 w 194"/>
                <a:gd name="T19" fmla="*/ 15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316">
                  <a:moveTo>
                    <a:pt x="97" y="0"/>
                  </a:move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97" y="316"/>
                    <a:pt x="97" y="316"/>
                  </a:cubicBezTo>
                  <a:cubicBezTo>
                    <a:pt x="97" y="316"/>
                    <a:pt x="194" y="150"/>
                    <a:pt x="194" y="97"/>
                  </a:cubicBezTo>
                  <a:cubicBezTo>
                    <a:pt x="194" y="43"/>
                    <a:pt x="151" y="0"/>
                    <a:pt x="97" y="0"/>
                  </a:cubicBezTo>
                  <a:close/>
                  <a:moveTo>
                    <a:pt x="97" y="153"/>
                  </a:moveTo>
                  <a:cubicBezTo>
                    <a:pt x="70" y="153"/>
                    <a:pt x="48" y="131"/>
                    <a:pt x="48" y="104"/>
                  </a:cubicBezTo>
                  <a:cubicBezTo>
                    <a:pt x="48" y="76"/>
                    <a:pt x="70" y="54"/>
                    <a:pt x="97" y="54"/>
                  </a:cubicBezTo>
                  <a:cubicBezTo>
                    <a:pt x="124" y="54"/>
                    <a:pt x="147" y="76"/>
                    <a:pt x="147" y="104"/>
                  </a:cubicBezTo>
                  <a:cubicBezTo>
                    <a:pt x="147" y="131"/>
                    <a:pt x="124" y="153"/>
                    <a:pt x="97" y="1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23000">
                  <a:schemeClr val="accent2"/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5310DBF-4315-C328-1D49-8CD0A70B3B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816" y="1827902"/>
              <a:ext cx="350668" cy="571460"/>
            </a:xfrm>
            <a:custGeom>
              <a:avLst/>
              <a:gdLst>
                <a:gd name="T0" fmla="*/ 97 w 194"/>
                <a:gd name="T1" fmla="*/ 0 h 316"/>
                <a:gd name="T2" fmla="*/ 0 w 194"/>
                <a:gd name="T3" fmla="*/ 97 h 316"/>
                <a:gd name="T4" fmla="*/ 97 w 194"/>
                <a:gd name="T5" fmla="*/ 316 h 316"/>
                <a:gd name="T6" fmla="*/ 194 w 194"/>
                <a:gd name="T7" fmla="*/ 97 h 316"/>
                <a:gd name="T8" fmla="*/ 97 w 194"/>
                <a:gd name="T9" fmla="*/ 0 h 316"/>
                <a:gd name="T10" fmla="*/ 97 w 194"/>
                <a:gd name="T11" fmla="*/ 153 h 316"/>
                <a:gd name="T12" fmla="*/ 47 w 194"/>
                <a:gd name="T13" fmla="*/ 104 h 316"/>
                <a:gd name="T14" fmla="*/ 97 w 194"/>
                <a:gd name="T15" fmla="*/ 54 h 316"/>
                <a:gd name="T16" fmla="*/ 146 w 194"/>
                <a:gd name="T17" fmla="*/ 104 h 316"/>
                <a:gd name="T18" fmla="*/ 97 w 194"/>
                <a:gd name="T19" fmla="*/ 15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316">
                  <a:moveTo>
                    <a:pt x="97" y="0"/>
                  </a:moveTo>
                  <a:cubicBezTo>
                    <a:pt x="43" y="0"/>
                    <a:pt x="0" y="43"/>
                    <a:pt x="0" y="97"/>
                  </a:cubicBezTo>
                  <a:cubicBezTo>
                    <a:pt x="0" y="150"/>
                    <a:pt x="97" y="316"/>
                    <a:pt x="97" y="316"/>
                  </a:cubicBezTo>
                  <a:cubicBezTo>
                    <a:pt x="97" y="316"/>
                    <a:pt x="194" y="150"/>
                    <a:pt x="194" y="97"/>
                  </a:cubicBezTo>
                  <a:cubicBezTo>
                    <a:pt x="194" y="43"/>
                    <a:pt x="150" y="0"/>
                    <a:pt x="97" y="0"/>
                  </a:cubicBezTo>
                  <a:close/>
                  <a:moveTo>
                    <a:pt x="97" y="153"/>
                  </a:moveTo>
                  <a:cubicBezTo>
                    <a:pt x="70" y="153"/>
                    <a:pt x="47" y="131"/>
                    <a:pt x="47" y="104"/>
                  </a:cubicBezTo>
                  <a:cubicBezTo>
                    <a:pt x="47" y="77"/>
                    <a:pt x="70" y="54"/>
                    <a:pt x="97" y="54"/>
                  </a:cubicBezTo>
                  <a:cubicBezTo>
                    <a:pt x="124" y="54"/>
                    <a:pt x="146" y="77"/>
                    <a:pt x="146" y="104"/>
                  </a:cubicBezTo>
                  <a:cubicBezTo>
                    <a:pt x="146" y="131"/>
                    <a:pt x="124" y="153"/>
                    <a:pt x="97" y="1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3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97E486B6-48C2-EB4C-8079-2C99FEACF7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44545" y="2273436"/>
              <a:ext cx="408957" cy="666449"/>
            </a:xfrm>
            <a:custGeom>
              <a:avLst/>
              <a:gdLst>
                <a:gd name="T0" fmla="*/ 97 w 194"/>
                <a:gd name="T1" fmla="*/ 0 h 316"/>
                <a:gd name="T2" fmla="*/ 0 w 194"/>
                <a:gd name="T3" fmla="*/ 97 h 316"/>
                <a:gd name="T4" fmla="*/ 97 w 194"/>
                <a:gd name="T5" fmla="*/ 316 h 316"/>
                <a:gd name="T6" fmla="*/ 194 w 194"/>
                <a:gd name="T7" fmla="*/ 97 h 316"/>
                <a:gd name="T8" fmla="*/ 97 w 194"/>
                <a:gd name="T9" fmla="*/ 0 h 316"/>
                <a:gd name="T10" fmla="*/ 97 w 194"/>
                <a:gd name="T11" fmla="*/ 153 h 316"/>
                <a:gd name="T12" fmla="*/ 47 w 194"/>
                <a:gd name="T13" fmla="*/ 104 h 316"/>
                <a:gd name="T14" fmla="*/ 97 w 194"/>
                <a:gd name="T15" fmla="*/ 54 h 316"/>
                <a:gd name="T16" fmla="*/ 146 w 194"/>
                <a:gd name="T17" fmla="*/ 104 h 316"/>
                <a:gd name="T18" fmla="*/ 97 w 194"/>
                <a:gd name="T19" fmla="*/ 15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316">
                  <a:moveTo>
                    <a:pt x="97" y="0"/>
                  </a:moveTo>
                  <a:cubicBezTo>
                    <a:pt x="43" y="0"/>
                    <a:pt x="0" y="43"/>
                    <a:pt x="0" y="97"/>
                  </a:cubicBezTo>
                  <a:cubicBezTo>
                    <a:pt x="0" y="150"/>
                    <a:pt x="97" y="316"/>
                    <a:pt x="97" y="316"/>
                  </a:cubicBezTo>
                  <a:cubicBezTo>
                    <a:pt x="97" y="316"/>
                    <a:pt x="194" y="150"/>
                    <a:pt x="194" y="97"/>
                  </a:cubicBezTo>
                  <a:cubicBezTo>
                    <a:pt x="194" y="43"/>
                    <a:pt x="150" y="0"/>
                    <a:pt x="97" y="0"/>
                  </a:cubicBezTo>
                  <a:close/>
                  <a:moveTo>
                    <a:pt x="97" y="153"/>
                  </a:moveTo>
                  <a:cubicBezTo>
                    <a:pt x="70" y="153"/>
                    <a:pt x="47" y="131"/>
                    <a:pt x="47" y="104"/>
                  </a:cubicBezTo>
                  <a:cubicBezTo>
                    <a:pt x="47" y="77"/>
                    <a:pt x="70" y="54"/>
                    <a:pt x="97" y="54"/>
                  </a:cubicBezTo>
                  <a:cubicBezTo>
                    <a:pt x="124" y="54"/>
                    <a:pt x="146" y="77"/>
                    <a:pt x="146" y="104"/>
                  </a:cubicBezTo>
                  <a:cubicBezTo>
                    <a:pt x="146" y="131"/>
                    <a:pt x="124" y="153"/>
                    <a:pt x="97" y="1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1AB159-BD06-2409-2957-A844D73068EB}"/>
              </a:ext>
            </a:extLst>
          </p:cNvPr>
          <p:cNvGrpSpPr/>
          <p:nvPr/>
        </p:nvGrpSpPr>
        <p:grpSpPr>
          <a:xfrm>
            <a:off x="4614158" y="1746403"/>
            <a:ext cx="2253370" cy="612165"/>
            <a:chOff x="24777" y="3733822"/>
            <a:chExt cx="3047608" cy="61216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42A853-B6B3-A272-E7EC-A2AE31BEF9D7}"/>
                </a:ext>
              </a:extLst>
            </p:cNvPr>
            <p:cNvSpPr txBox="1"/>
            <p:nvPr/>
          </p:nvSpPr>
          <p:spPr>
            <a:xfrm>
              <a:off x="366214" y="4007433"/>
              <a:ext cx="2644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Selection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8F0852-1D69-2441-CA0E-E79FD2C2E1EF}"/>
                </a:ext>
              </a:extLst>
            </p:cNvPr>
            <p:cNvSpPr txBox="1"/>
            <p:nvPr/>
          </p:nvSpPr>
          <p:spPr>
            <a:xfrm>
              <a:off x="24777" y="3733822"/>
              <a:ext cx="30476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1-6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7C20EFD-E611-7B46-AF5B-912BA8CF5C79}"/>
              </a:ext>
            </a:extLst>
          </p:cNvPr>
          <p:cNvGrpSpPr/>
          <p:nvPr/>
        </p:nvGrpSpPr>
        <p:grpSpPr>
          <a:xfrm>
            <a:off x="7062977" y="1763967"/>
            <a:ext cx="1955192" cy="667728"/>
            <a:chOff x="350992" y="4701648"/>
            <a:chExt cx="2644332" cy="66772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0C53BE-8D63-649C-31E2-FF381BEB482B}"/>
                </a:ext>
              </a:extLst>
            </p:cNvPr>
            <p:cNvSpPr txBox="1"/>
            <p:nvPr/>
          </p:nvSpPr>
          <p:spPr>
            <a:xfrm>
              <a:off x="350992" y="5000044"/>
              <a:ext cx="2644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</a:t>
              </a:r>
              <a:r>
                <a: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Review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7DC2CF-9470-B666-4FE7-CB054918790E}"/>
                </a:ext>
              </a:extLst>
            </p:cNvPr>
            <p:cNvSpPr txBox="1"/>
            <p:nvPr/>
          </p:nvSpPr>
          <p:spPr>
            <a:xfrm>
              <a:off x="350992" y="4701648"/>
              <a:ext cx="2644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2-6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C6F8051-6C30-D41C-5E35-4A80E8EDCFCC}"/>
              </a:ext>
            </a:extLst>
          </p:cNvPr>
          <p:cNvGrpSpPr/>
          <p:nvPr/>
        </p:nvGrpSpPr>
        <p:grpSpPr>
          <a:xfrm>
            <a:off x="9589940" y="1827621"/>
            <a:ext cx="1977019" cy="868753"/>
            <a:chOff x="350992" y="3989852"/>
            <a:chExt cx="2673852" cy="86875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7C2E94-B0CC-171F-FB30-C577779819DF}"/>
                </a:ext>
              </a:extLst>
            </p:cNvPr>
            <p:cNvSpPr txBox="1"/>
            <p:nvPr/>
          </p:nvSpPr>
          <p:spPr>
            <a:xfrm>
              <a:off x="380512" y="4273830"/>
              <a:ext cx="26443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 Finalization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82497F-5F04-6D7A-BC65-C7C741ED03B7}"/>
                </a:ext>
              </a:extLst>
            </p:cNvPr>
            <p:cNvSpPr txBox="1"/>
            <p:nvPr/>
          </p:nvSpPr>
          <p:spPr>
            <a:xfrm>
              <a:off x="350992" y="3989852"/>
              <a:ext cx="2644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3 – 6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066760-7541-D839-8E26-873033D1320C}"/>
              </a:ext>
            </a:extLst>
          </p:cNvPr>
          <p:cNvGrpSpPr/>
          <p:nvPr/>
        </p:nvGrpSpPr>
        <p:grpSpPr>
          <a:xfrm>
            <a:off x="7410047" y="4128527"/>
            <a:ext cx="1955192" cy="883171"/>
            <a:chOff x="350992" y="4701648"/>
            <a:chExt cx="2644332" cy="88317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9978EC-C009-9F92-0D51-F0A27E0B473D}"/>
                </a:ext>
              </a:extLst>
            </p:cNvPr>
            <p:cNvSpPr txBox="1"/>
            <p:nvPr/>
          </p:nvSpPr>
          <p:spPr>
            <a:xfrm>
              <a:off x="350992" y="5000044"/>
              <a:ext cx="26443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 &amp; Optimization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CB00B8-4121-F86F-02E1-849A017150A7}"/>
                </a:ext>
              </a:extLst>
            </p:cNvPr>
            <p:cNvSpPr txBox="1"/>
            <p:nvPr/>
          </p:nvSpPr>
          <p:spPr>
            <a:xfrm>
              <a:off x="350992" y="4701648"/>
              <a:ext cx="2644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2 – 7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EF2E91-A676-6280-1361-1E6B177C6571}"/>
              </a:ext>
            </a:extLst>
          </p:cNvPr>
          <p:cNvGrpSpPr/>
          <p:nvPr/>
        </p:nvGrpSpPr>
        <p:grpSpPr>
          <a:xfrm>
            <a:off x="5084304" y="4214731"/>
            <a:ext cx="1955192" cy="1129393"/>
            <a:chOff x="350992" y="4701648"/>
            <a:chExt cx="2644332" cy="112939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93A9225-FA56-65FD-E54D-7411AB56E665}"/>
                </a:ext>
              </a:extLst>
            </p:cNvPr>
            <p:cNvSpPr txBox="1"/>
            <p:nvPr/>
          </p:nvSpPr>
          <p:spPr>
            <a:xfrm>
              <a:off x="350992" y="5000044"/>
              <a:ext cx="26443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Hardware &amp; Software Development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FD6106B-5808-8A13-9FAC-33AA8D5B0501}"/>
                </a:ext>
              </a:extLst>
            </p:cNvPr>
            <p:cNvSpPr txBox="1"/>
            <p:nvPr/>
          </p:nvSpPr>
          <p:spPr>
            <a:xfrm>
              <a:off x="350992" y="4701648"/>
              <a:ext cx="2644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PHASE 1-7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8CB00B8-4121-F86F-02E1-849A017150A7}"/>
              </a:ext>
            </a:extLst>
          </p:cNvPr>
          <p:cNvSpPr txBox="1"/>
          <p:nvPr/>
        </p:nvSpPr>
        <p:spPr>
          <a:xfrm>
            <a:off x="9735790" y="4128527"/>
            <a:ext cx="1955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7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73256" y="4572346"/>
            <a:ext cx="3370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 &amp; Documentation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47;p13">
            <a:extLst>
              <a:ext uri="{FF2B5EF4-FFF2-40B4-BE49-F238E27FC236}">
                <a16:creationId xmlns:a16="http://schemas.microsoft.com/office/drawing/2014/main" id="{B05B9249-945F-9B39-5E54-6A8FB521075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F41095A2-7A99-5354-0283-5E637A4D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  <p:extLst>
      <p:ext uri="{BB962C8B-B14F-4D97-AF65-F5344CB8AC3E}">
        <p14:creationId xmlns:p14="http://schemas.microsoft.com/office/powerpoint/2010/main" val="2898939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>
            <a:spLocks noGrp="1"/>
          </p:cNvSpPr>
          <p:nvPr>
            <p:ph type="title"/>
          </p:nvPr>
        </p:nvSpPr>
        <p:spPr>
          <a:xfrm>
            <a:off x="141709" y="2207152"/>
            <a:ext cx="96956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AD2D8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rgbClr val="9AD2D8"/>
                </a:solidFill>
              </a:rPr>
              <a:t>				   					</a:t>
            </a:r>
            <a:r>
              <a:rPr lang="en-US" sz="6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60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Google Shape;247;p13"/>
          <p:cNvSpPr txBox="1">
            <a:spLocks noGrp="1"/>
          </p:cNvSpPr>
          <p:nvPr>
            <p:ph type="ftr" sz="quarter" idx="11"/>
          </p:nvPr>
        </p:nvSpPr>
        <p:spPr>
          <a:xfrm>
            <a:off x="2453648" y="6480175"/>
            <a:ext cx="728470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Low-Power 32-bit RISC-V Processor for IOT and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iomedical Applications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3794A-084E-4953-A75A-1CBCD468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349" y="6505575"/>
            <a:ext cx="415834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23606" y="6492875"/>
            <a:ext cx="1109251" cy="365125"/>
          </a:xfrm>
        </p:spPr>
        <p:txBody>
          <a:bodyPr/>
          <a:lstStyle/>
          <a:p>
            <a:r>
              <a:rPr lang="en-US" dirty="0"/>
              <a:t>12-Mar-2026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Words>1265</Words>
  <Application>Microsoft Office PowerPoint</Application>
  <PresentationFormat>Widescreen</PresentationFormat>
  <Paragraphs>167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         SYNOPSIS  PRESENTATION   ON  Design and Implementation of Low-Power 32-bit RISC-V Processor for IOT and Biomedical Applications </vt:lpstr>
      <vt:lpstr>INTRODUCTION</vt:lpstr>
      <vt:lpstr>PowerPoint Presentation</vt:lpstr>
      <vt:lpstr>OBJECTIVES </vt:lpstr>
      <vt:lpstr>              EXISTING SYSTEM</vt:lpstr>
      <vt:lpstr>              EXISTING SYSTEM</vt:lpstr>
      <vt:lpstr>                                                                                                             LITERATURE REVIEW </vt:lpstr>
      <vt:lpstr>                LITERATURE REVIEW – “Cont’d” </vt:lpstr>
      <vt:lpstr>        PROPOSED SYSTEM</vt:lpstr>
      <vt:lpstr>FLOW CHART</vt:lpstr>
      <vt:lpstr>EXPECTED RESULTS</vt:lpstr>
      <vt:lpstr>ADVANTAGES</vt:lpstr>
      <vt:lpstr>APPLICATIONS</vt:lpstr>
      <vt:lpstr>                           REFERENCES   </vt:lpstr>
      <vt:lpstr>Road Map to the Project</vt:lpstr>
      <vt:lpstr>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 ON  TEXT RECOGNITION IN IMAGES USING PYTHON</dc:title>
  <dc:creator>AIET</dc:creator>
  <cp:lastModifiedBy>Deeksha Gowda</cp:lastModifiedBy>
  <cp:revision>121</cp:revision>
  <dcterms:modified xsi:type="dcterms:W3CDTF">2026-03-12T07:24:43Z</dcterms:modified>
</cp:coreProperties>
</file>